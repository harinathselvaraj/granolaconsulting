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2.svg" ContentType="image/svg+xml"/>
  <Override PartName="/ppt/media/image14.svg" ContentType="image/svg+xml"/>
  <Override PartName="/ppt/media/image16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4"/>
  </p:sldMasterIdLst>
  <p:notesMasterIdLst>
    <p:notesMasterId r:id="rId11"/>
  </p:notesMasterIdLst>
  <p:sldIdLst>
    <p:sldId id="279" r:id="rId5"/>
    <p:sldId id="287" r:id="rId6"/>
    <p:sldId id="286" r:id="rId7"/>
    <p:sldId id="289" r:id="rId8"/>
    <p:sldId id="288" r:id="rId9"/>
    <p:sldId id="284" r:id="rId1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527" userDrawn="1">
          <p15:clr>
            <a:srgbClr val="A4A3A4"/>
          </p15:clr>
        </p15:guide>
        <p15:guide id="2" pos="2812" userDrawn="1">
          <p15:clr>
            <a:srgbClr val="A4A3A4"/>
          </p15:clr>
        </p15:guide>
        <p15:guide id="3" pos="295" userDrawn="1">
          <p15:clr>
            <a:srgbClr val="9AA0A6"/>
          </p15:clr>
        </p15:guide>
        <p15:guide id="4" orient="horz" pos="282" userDrawn="1">
          <p15:clr>
            <a:srgbClr val="9AA0A6"/>
          </p15:clr>
        </p15:guide>
        <p15:guide id="5" orient="horz" pos="2958" userDrawn="1">
          <p15:clr>
            <a:srgbClr val="9AA0A6"/>
          </p15:clr>
        </p15:guide>
        <p15:guide id="6" pos="2971" userDrawn="1">
          <p15:clr>
            <a:srgbClr val="9AA0A6"/>
          </p15:clr>
        </p15:guide>
        <p15:guide id="7" pos="1633" userDrawn="1">
          <p15:clr>
            <a:srgbClr val="9AA0A6"/>
          </p15:clr>
        </p15:guide>
        <p15:guide id="8" pos="1474" userDrawn="1">
          <p15:clr>
            <a:srgbClr val="9AA0A6"/>
          </p15:clr>
        </p15:guide>
        <p15:guide id="9" pos="5488" userDrawn="1">
          <p15:clr>
            <a:srgbClr val="9AA0A6"/>
          </p15:clr>
        </p15:guide>
        <p15:guide id="10" pos="4309" userDrawn="1">
          <p15:clr>
            <a:srgbClr val="9AA0A6"/>
          </p15:clr>
        </p15:guide>
        <p15:guide id="11" pos="4150" userDrawn="1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722F"/>
    <a:srgbClr val="F4F1E9"/>
    <a:srgbClr val="C19349"/>
    <a:srgbClr val="CCF2EF"/>
    <a:srgbClr val="FFCF04"/>
    <a:srgbClr val="BED42B"/>
    <a:srgbClr val="3D3D3B"/>
    <a:srgbClr val="26B2A8"/>
    <a:srgbClr val="43434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C8AEE7-0113-151E-6153-24209110DDA9}" v="22" dt="2025-01-08T16:26:00.022"/>
  </p1510:revLst>
</p1510:revInfo>
</file>

<file path=ppt/tableStyles.xml><?xml version="1.0" encoding="utf-8"?>
<a:tblStyleLst xmlns:a="http://schemas.openxmlformats.org/drawingml/2006/main" def="{54C569FC-BCFD-4877-A475-6FB1CBB6E6DA}">
  <a:tblStyle styleId="{54C569FC-BCFD-4877-A475-6FB1CBB6E6D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527"/>
        <p:guide pos="2812"/>
        <p:guide pos="295"/>
        <p:guide orient="horz" pos="282"/>
        <p:guide orient="horz" pos="2958"/>
        <p:guide pos="2971"/>
        <p:guide pos="1633"/>
        <p:guide pos="1474"/>
        <p:guide pos="5488"/>
        <p:guide pos="4309"/>
        <p:guide pos="415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0428938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55e3760adf_3_2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55e3760adf_3_2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89087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55e3760adf_3_2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55e3760adf_3_2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67966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55e3760adf_3_2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55e3760adf_3_2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06210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55e3760adf_3_2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55e3760adf_3_2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73783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55e3760adf_3_2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55e3760adf_3_2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23982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55e3760adf_3_2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55e3760adf_3_2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446306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Relationship Id="rId6" Type="http://schemas.openxmlformats.org/officeDocument/2006/relationships/image" Target="../media/image4.svg"/><Relationship Id="rId7" Type="http://schemas.openxmlformats.org/officeDocument/2006/relationships/image" Target="../media/image5.png"/><Relationship Id="rId8" Type="http://schemas.openxmlformats.org/officeDocument/2006/relationships/image" Target="../media/image6.svg"/><Relationship Id="rId9" Type="http://schemas.openxmlformats.org/officeDocument/2006/relationships/image" Target="../media/image7.png"/><Relationship Id="rId10" Type="http://schemas.openxmlformats.org/officeDocument/2006/relationships/image" Target="../media/image8.svg"/><Relationship Id="rId11" Type="http://schemas.openxmlformats.org/officeDocument/2006/relationships/image" Target="../media/image9.png"/><Relationship Id="rId12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7.png"/><Relationship Id="rId8" Type="http://schemas.openxmlformats.org/officeDocument/2006/relationships/image" Target="../media/image8.svg"/><Relationship Id="rId9" Type="http://schemas.openxmlformats.org/officeDocument/2006/relationships/image" Target="../media/image9.png"/><Relationship Id="rId10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Relationship Id="rId6" Type="http://schemas.openxmlformats.org/officeDocument/2006/relationships/image" Target="../media/image4.svg"/><Relationship Id="rId7" Type="http://schemas.openxmlformats.org/officeDocument/2006/relationships/image" Target="../media/image5.png"/><Relationship Id="rId8" Type="http://schemas.openxmlformats.org/officeDocument/2006/relationships/image" Target="../media/image6.svg"/><Relationship Id="rId9" Type="http://schemas.openxmlformats.org/officeDocument/2006/relationships/image" Target="../media/image7.png"/><Relationship Id="rId10" Type="http://schemas.openxmlformats.org/officeDocument/2006/relationships/image" Target="../media/image8.svg"/><Relationship Id="rId11" Type="http://schemas.openxmlformats.org/officeDocument/2006/relationships/image" Target="../media/image9.png"/><Relationship Id="rId12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7.png"/><Relationship Id="rId8" Type="http://schemas.openxmlformats.org/officeDocument/2006/relationships/image" Target="../media/image8.svg"/><Relationship Id="rId9" Type="http://schemas.openxmlformats.org/officeDocument/2006/relationships/image" Target="../media/image9.png"/><Relationship Id="rId10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7.png"/><Relationship Id="rId8" Type="http://schemas.openxmlformats.org/officeDocument/2006/relationships/image" Target="../media/image8.svg"/><Relationship Id="rId9" Type="http://schemas.openxmlformats.org/officeDocument/2006/relationships/image" Target="../media/image9.png"/><Relationship Id="rId10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11.png"/><Relationship Id="rId6" Type="http://schemas.openxmlformats.org/officeDocument/2006/relationships/image" Target="../media/image12.svg"/><Relationship Id="rId7" Type="http://schemas.openxmlformats.org/officeDocument/2006/relationships/image" Target="../media/image13.png"/><Relationship Id="rId8" Type="http://schemas.openxmlformats.org/officeDocument/2006/relationships/image" Target="../media/image14.svg"/><Relationship Id="rId9" Type="http://schemas.openxmlformats.org/officeDocument/2006/relationships/image" Target="../media/image15.png"/><Relationship Id="rId10" Type="http://schemas.openxmlformats.org/officeDocument/2006/relationships/image" Target="../media/image16.svg"/><Relationship Id="rId1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9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93;p16">
            <a:extLst>
              <a:ext uri="{FF2B5EF4-FFF2-40B4-BE49-F238E27FC236}">
                <a16:creationId xmlns:a16="http://schemas.microsoft.com/office/drawing/2014/main" id="{86764CE6-BA73-DF44-B8DD-CB311D33273F}"/>
              </a:ext>
            </a:extLst>
          </p:cNvPr>
          <p:cNvSpPr/>
          <p:nvPr/>
        </p:nvSpPr>
        <p:spPr>
          <a:xfrm>
            <a:off x="3029579" y="-332014"/>
            <a:ext cx="992384" cy="977583"/>
          </a:xfrm>
          <a:custGeom>
            <a:avLst/>
            <a:gdLst/>
            <a:ahLst/>
            <a:cxnLst/>
            <a:rect l="l" t="t" r="r" b="b"/>
            <a:pathLst>
              <a:path w="211258" h="208107" extrusionOk="0">
                <a:moveTo>
                  <a:pt x="196318" y="0"/>
                </a:moveTo>
                <a:cubicBezTo>
                  <a:pt x="193981" y="0"/>
                  <a:pt x="191409" y="380"/>
                  <a:pt x="188647" y="1160"/>
                </a:cubicBezTo>
                <a:lnTo>
                  <a:pt x="16809" y="47234"/>
                </a:lnTo>
                <a:cubicBezTo>
                  <a:pt x="12714" y="48172"/>
                  <a:pt x="8959" y="50135"/>
                  <a:pt x="5888" y="52950"/>
                </a:cubicBezTo>
                <a:cubicBezTo>
                  <a:pt x="1" y="58838"/>
                  <a:pt x="1280" y="67114"/>
                  <a:pt x="9301" y="75134"/>
                </a:cubicBezTo>
                <a:lnTo>
                  <a:pt x="135150" y="200984"/>
                </a:lnTo>
                <a:cubicBezTo>
                  <a:pt x="139859" y="205692"/>
                  <a:pt x="144685" y="208107"/>
                  <a:pt x="149059" y="208107"/>
                </a:cubicBezTo>
                <a:cubicBezTo>
                  <a:pt x="152136" y="208107"/>
                  <a:pt x="154988" y="206913"/>
                  <a:pt x="157419" y="204482"/>
                </a:cubicBezTo>
                <a:cubicBezTo>
                  <a:pt x="160235" y="201325"/>
                  <a:pt x="162197" y="197571"/>
                  <a:pt x="163136" y="193475"/>
                </a:cubicBezTo>
                <a:lnTo>
                  <a:pt x="209124" y="21637"/>
                </a:lnTo>
                <a:cubicBezTo>
                  <a:pt x="211257" y="13958"/>
                  <a:pt x="210319" y="7474"/>
                  <a:pt x="206564" y="3720"/>
                </a:cubicBezTo>
                <a:cubicBezTo>
                  <a:pt x="204131" y="1287"/>
                  <a:pt x="200623" y="0"/>
                  <a:pt x="196318" y="0"/>
                </a:cubicBezTo>
                <a:close/>
              </a:path>
            </a:pathLst>
          </a:custGeom>
          <a:solidFill>
            <a:srgbClr val="E1722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7459F5B7-4A63-B14B-BAD3-68720178CADF}"/>
              </a:ext>
            </a:extLst>
          </p:cNvPr>
          <p:cNvGrpSpPr/>
          <p:nvPr/>
        </p:nvGrpSpPr>
        <p:grpSpPr>
          <a:xfrm>
            <a:off x="5823929" y="4523565"/>
            <a:ext cx="2892015" cy="344520"/>
            <a:chOff x="5943148" y="4556126"/>
            <a:chExt cx="2892015" cy="344520"/>
          </a:xfrm>
        </p:grpSpPr>
        <p:graphicFrame>
          <p:nvGraphicFramePr>
            <p:cNvPr id="144" name="Google Shape;121;p14">
              <a:extLst>
                <a:ext uri="{FF2B5EF4-FFF2-40B4-BE49-F238E27FC236}">
                  <a16:creationId xmlns:a16="http://schemas.microsoft.com/office/drawing/2014/main" id="{1C7FF576-AD7A-544B-B70C-E8148E8A67E8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6955861"/>
                </p:ext>
              </p:extLst>
            </p:nvPr>
          </p:nvGraphicFramePr>
          <p:xfrm>
            <a:off x="5958739" y="4576260"/>
            <a:ext cx="2876424" cy="324386"/>
          </p:xfrm>
          <a:graphic>
            <a:graphicData uri="http://schemas.openxmlformats.org/drawingml/2006/table">
              <a:tbl>
                <a:tblPr>
                  <a:noFill/>
                  <a:tableStyleId>{54C569FC-BCFD-4877-A475-6FB1CBB6E6DA}</a:tableStyleId>
                </a:tblPr>
                <a:tblGrid>
                  <a:gridCol w="966882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954771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954771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</a:tblGrid>
                <a:tr h="324386">
                  <a:tc>
                    <a:txBody>
                      <a:bodyPr/>
                      <a:lstStyle/>
                      <a:p>
                        <a:pPr marL="0" lvl="0" indent="0" algn="r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GB" sz="800" b="0" i="0">
                            <a:solidFill>
                              <a:schemeClr val="dk1"/>
                            </a:solidFill>
                            <a:latin typeface="Calibri"/>
                            <a:ea typeface="InterFace" charset="0"/>
                            <a:cs typeface="InterFace" charset="0"/>
                          </a:rPr>
                          <a:t> </a:t>
                        </a:r>
                        <a:r>
                          <a:rPr lang="en" sz="800" b="0" i="0">
                            <a:solidFill>
                              <a:schemeClr val="dk1"/>
                            </a:solidFill>
                            <a:latin typeface="Calibri"/>
                            <a:ea typeface="InterFace" charset="0"/>
                            <a:cs typeface="InterFace" charset="0"/>
                            <a:sym typeface="Roboto Light"/>
                          </a:rPr>
                          <a:t>Enterprise Nation</a:t>
                        </a:r>
                        <a:endParaRPr sz="800" b="0" i="0">
                          <a:latin typeface="Calibri"/>
                          <a:ea typeface="InterFace" charset="0"/>
                          <a:cs typeface="InterFace" charset="0"/>
                        </a:endParaRPr>
                      </a:p>
                    </a:txBody>
                    <a:tcPr marL="0" marR="0" marT="0" marB="0">
                      <a:lnL w="9525" cap="flat" cmpd="sng">
                        <a:solidFill>
                          <a:srgbClr val="9E9E9E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rgbClr val="9E9E9E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9E9E9E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rgbClr val="9E9E9E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r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sz="800" b="0" i="0">
                            <a:solidFill>
                              <a:schemeClr val="dk1"/>
                            </a:solidFill>
                            <a:latin typeface="Calibri"/>
                            <a:ea typeface="InterFace" charset="0"/>
                            <a:cs typeface="InterFace" charset="0"/>
                          </a:rPr>
                          <a:t>            </a:t>
                        </a:r>
                        <a:r>
                          <a:rPr lang="en" sz="800" b="0" i="0">
                            <a:solidFill>
                              <a:schemeClr val="dk1"/>
                            </a:solidFill>
                            <a:latin typeface="Calibri"/>
                            <a:ea typeface="InterFace" charset="0"/>
                            <a:cs typeface="InterFace" charset="0"/>
                            <a:sym typeface="Roboto Light"/>
                          </a:rPr>
                          <a:t> </a:t>
                        </a:r>
                        <a:r>
                          <a:rPr lang="en" sz="800" b="0" i="0" err="1">
                            <a:solidFill>
                              <a:schemeClr val="dk1"/>
                            </a:solidFill>
                            <a:latin typeface="Calibri"/>
                            <a:ea typeface="InterFace" charset="0"/>
                            <a:cs typeface="InterFace" charset="0"/>
                            <a:sym typeface="Roboto Light"/>
                          </a:rPr>
                          <a:t>e_nation</a:t>
                        </a:r>
                        <a:endParaRPr sz="800" b="0" i="0">
                          <a:latin typeface="Calibri"/>
                          <a:ea typeface="InterFace" charset="0"/>
                          <a:cs typeface="InterFace" charset="0"/>
                        </a:endParaRPr>
                      </a:p>
                    </a:txBody>
                    <a:tcPr marL="0" marR="0" marT="0" marB="0">
                      <a:lnL w="9525" cap="flat" cmpd="sng" algn="ctr">
                        <a:solidFill>
                          <a:srgbClr val="9E9E9E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9E9E9E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9E9E9E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9E9E9E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r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sz="800" b="0" i="0" err="1">
                            <a:solidFill>
                              <a:schemeClr val="dk1"/>
                            </a:solidFill>
                            <a:latin typeface="Calibri"/>
                            <a:ea typeface="InterFace" charset="0"/>
                            <a:cs typeface="InterFace" charset="0"/>
                            <a:sym typeface="Roboto Light"/>
                          </a:rPr>
                          <a:t>e_nation</a:t>
                        </a:r>
                        <a:endParaRPr sz="800" b="0" i="0">
                          <a:latin typeface="Calibri"/>
                          <a:ea typeface="InterFace" charset="0"/>
                          <a:cs typeface="InterFace" charset="0"/>
                        </a:endParaRPr>
                      </a:p>
                    </a:txBody>
                    <a:tcPr marL="0" marR="0" marT="0" marB="0">
                      <a:lnL w="9525" cap="flat" cmpd="sng">
                        <a:solidFill>
                          <a:srgbClr val="9E9E9E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9E9E9E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9E9E9E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9E9E9E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sp>
          <p:nvSpPr>
            <p:cNvPr id="152" name="Google Shape;123;p14">
              <a:extLst>
                <a:ext uri="{FF2B5EF4-FFF2-40B4-BE49-F238E27FC236}">
                  <a16:creationId xmlns:a16="http://schemas.microsoft.com/office/drawing/2014/main" id="{DA350887-6AD8-DB49-AA36-523FE4D2DE3F}"/>
                </a:ext>
              </a:extLst>
            </p:cNvPr>
            <p:cNvSpPr/>
            <p:nvPr/>
          </p:nvSpPr>
          <p:spPr>
            <a:xfrm>
              <a:off x="7244061" y="4558347"/>
              <a:ext cx="208026" cy="177716"/>
            </a:xfrm>
            <a:custGeom>
              <a:avLst/>
              <a:gdLst/>
              <a:ahLst/>
              <a:cxnLst/>
              <a:rect l="l" t="t" r="r" b="b"/>
              <a:pathLst>
                <a:path w="231140" h="197462" extrusionOk="0">
                  <a:moveTo>
                    <a:pt x="99592" y="1"/>
                  </a:moveTo>
                  <a:cubicBezTo>
                    <a:pt x="48768" y="1"/>
                    <a:pt x="0" y="39359"/>
                    <a:pt x="0" y="99037"/>
                  </a:cubicBezTo>
                  <a:cubicBezTo>
                    <a:pt x="0" y="153647"/>
                    <a:pt x="44450" y="197462"/>
                    <a:pt x="99060" y="197462"/>
                  </a:cubicBezTo>
                  <a:cubicBezTo>
                    <a:pt x="186690" y="197462"/>
                    <a:pt x="231140" y="91417"/>
                    <a:pt x="168910" y="29187"/>
                  </a:cubicBezTo>
                  <a:cubicBezTo>
                    <a:pt x="148755" y="9032"/>
                    <a:pt x="123938" y="1"/>
                    <a:pt x="99592" y="1"/>
                  </a:cubicBezTo>
                  <a:close/>
                </a:path>
              </a:pathLst>
            </a:custGeom>
            <a:solidFill>
              <a:srgbClr val="3C3C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6" name="Google Shape;125;p14">
              <a:extLst>
                <a:ext uri="{FF2B5EF4-FFF2-40B4-BE49-F238E27FC236}">
                  <a16:creationId xmlns:a16="http://schemas.microsoft.com/office/drawing/2014/main" id="{B92CA432-4CE1-3A46-87B2-32446A121D76}"/>
                </a:ext>
              </a:extLst>
            </p:cNvPr>
            <p:cNvGrpSpPr/>
            <p:nvPr/>
          </p:nvGrpSpPr>
          <p:grpSpPr>
            <a:xfrm>
              <a:off x="8206933" y="4556126"/>
              <a:ext cx="213227" cy="182159"/>
              <a:chOff x="1190625" y="238700"/>
              <a:chExt cx="5778500" cy="4936550"/>
            </a:xfrm>
          </p:grpSpPr>
          <p:sp>
            <p:nvSpPr>
              <p:cNvPr id="150" name="Google Shape;126;p14">
                <a:extLst>
                  <a:ext uri="{FF2B5EF4-FFF2-40B4-BE49-F238E27FC236}">
                    <a16:creationId xmlns:a16="http://schemas.microsoft.com/office/drawing/2014/main" id="{B91957BF-F4D6-FC4D-8210-4CC806ABD04E}"/>
                  </a:ext>
                </a:extLst>
              </p:cNvPr>
              <p:cNvSpPr/>
              <p:nvPr/>
            </p:nvSpPr>
            <p:spPr>
              <a:xfrm>
                <a:off x="1190625" y="238700"/>
                <a:ext cx="5778500" cy="4936550"/>
              </a:xfrm>
              <a:custGeom>
                <a:avLst/>
                <a:gdLst/>
                <a:ahLst/>
                <a:cxnLst/>
                <a:rect l="l" t="t" r="r" b="b"/>
                <a:pathLst>
                  <a:path w="231140" h="197462" extrusionOk="0">
                    <a:moveTo>
                      <a:pt x="99592" y="1"/>
                    </a:moveTo>
                    <a:cubicBezTo>
                      <a:pt x="48768" y="1"/>
                      <a:pt x="0" y="39359"/>
                      <a:pt x="0" y="99037"/>
                    </a:cubicBezTo>
                    <a:cubicBezTo>
                      <a:pt x="0" y="153647"/>
                      <a:pt x="44450" y="197462"/>
                      <a:pt x="99060" y="197462"/>
                    </a:cubicBezTo>
                    <a:cubicBezTo>
                      <a:pt x="186690" y="197462"/>
                      <a:pt x="231140" y="91417"/>
                      <a:pt x="168910" y="29187"/>
                    </a:cubicBezTo>
                    <a:cubicBezTo>
                      <a:pt x="148755" y="9032"/>
                      <a:pt x="123938" y="1"/>
                      <a:pt x="99592" y="1"/>
                    </a:cubicBezTo>
                    <a:close/>
                  </a:path>
                </a:pathLst>
              </a:custGeom>
              <a:solidFill>
                <a:srgbClr val="3C3C3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27;p14">
                <a:extLst>
                  <a:ext uri="{FF2B5EF4-FFF2-40B4-BE49-F238E27FC236}">
                    <a16:creationId xmlns:a16="http://schemas.microsoft.com/office/drawing/2014/main" id="{3D25BB38-34BE-C347-AA89-A7DFBFF12C68}"/>
                  </a:ext>
                </a:extLst>
              </p:cNvPr>
              <p:cNvSpPr/>
              <p:nvPr/>
            </p:nvSpPr>
            <p:spPr>
              <a:xfrm>
                <a:off x="2428875" y="1476375"/>
                <a:ext cx="2476500" cy="2476500"/>
              </a:xfrm>
              <a:custGeom>
                <a:avLst/>
                <a:gdLst/>
                <a:ahLst/>
                <a:cxnLst/>
                <a:rect l="l" t="t" r="r" b="b"/>
                <a:pathLst>
                  <a:path w="99060" h="99060" extrusionOk="0">
                    <a:moveTo>
                      <a:pt x="87630" y="11430"/>
                    </a:moveTo>
                    <a:lnTo>
                      <a:pt x="87630" y="27940"/>
                    </a:lnTo>
                    <a:lnTo>
                      <a:pt x="70485" y="27940"/>
                    </a:lnTo>
                    <a:lnTo>
                      <a:pt x="70485" y="11430"/>
                    </a:lnTo>
                    <a:close/>
                    <a:moveTo>
                      <a:pt x="49530" y="31750"/>
                    </a:moveTo>
                    <a:cubicBezTo>
                      <a:pt x="54610" y="31750"/>
                      <a:pt x="60325" y="34290"/>
                      <a:pt x="63500" y="39370"/>
                    </a:cubicBezTo>
                    <a:cubicBezTo>
                      <a:pt x="71755" y="50800"/>
                      <a:pt x="63500" y="66675"/>
                      <a:pt x="49530" y="66675"/>
                    </a:cubicBezTo>
                    <a:cubicBezTo>
                      <a:pt x="34925" y="66675"/>
                      <a:pt x="26670" y="50800"/>
                      <a:pt x="35560" y="39370"/>
                    </a:cubicBezTo>
                    <a:cubicBezTo>
                      <a:pt x="38735" y="34290"/>
                      <a:pt x="43815" y="31750"/>
                      <a:pt x="49530" y="31750"/>
                    </a:cubicBezTo>
                    <a:close/>
                    <a:moveTo>
                      <a:pt x="88900" y="39370"/>
                    </a:moveTo>
                    <a:lnTo>
                      <a:pt x="88900" y="79375"/>
                    </a:lnTo>
                    <a:cubicBezTo>
                      <a:pt x="88900" y="85090"/>
                      <a:pt x="85090" y="88900"/>
                      <a:pt x="79375" y="88900"/>
                    </a:cubicBezTo>
                    <a:lnTo>
                      <a:pt x="19050" y="88900"/>
                    </a:lnTo>
                    <a:cubicBezTo>
                      <a:pt x="13970" y="88900"/>
                      <a:pt x="9525" y="85090"/>
                      <a:pt x="9525" y="79375"/>
                    </a:cubicBezTo>
                    <a:lnTo>
                      <a:pt x="9525" y="39370"/>
                    </a:lnTo>
                    <a:lnTo>
                      <a:pt x="24130" y="39370"/>
                    </a:lnTo>
                    <a:cubicBezTo>
                      <a:pt x="22860" y="42545"/>
                      <a:pt x="22225" y="45720"/>
                      <a:pt x="22225" y="49530"/>
                    </a:cubicBezTo>
                    <a:cubicBezTo>
                      <a:pt x="23178" y="66358"/>
                      <a:pt x="36195" y="74771"/>
                      <a:pt x="49213" y="74771"/>
                    </a:cubicBezTo>
                    <a:cubicBezTo>
                      <a:pt x="62230" y="74771"/>
                      <a:pt x="75248" y="66358"/>
                      <a:pt x="76200" y="49530"/>
                    </a:cubicBezTo>
                    <a:cubicBezTo>
                      <a:pt x="76200" y="45720"/>
                      <a:pt x="75565" y="42545"/>
                      <a:pt x="74295" y="39370"/>
                    </a:cubicBezTo>
                    <a:close/>
                    <a:moveTo>
                      <a:pt x="19050" y="0"/>
                    </a:moveTo>
                    <a:cubicBezTo>
                      <a:pt x="8255" y="0"/>
                      <a:pt x="0" y="8255"/>
                      <a:pt x="0" y="19050"/>
                    </a:cubicBezTo>
                    <a:lnTo>
                      <a:pt x="0" y="79375"/>
                    </a:lnTo>
                    <a:cubicBezTo>
                      <a:pt x="0" y="90170"/>
                      <a:pt x="8255" y="98425"/>
                      <a:pt x="19050" y="99060"/>
                    </a:cubicBezTo>
                    <a:lnTo>
                      <a:pt x="79375" y="99060"/>
                    </a:lnTo>
                    <a:cubicBezTo>
                      <a:pt x="90170" y="99060"/>
                      <a:pt x="99060" y="90170"/>
                      <a:pt x="99060" y="79375"/>
                    </a:cubicBezTo>
                    <a:lnTo>
                      <a:pt x="99060" y="19050"/>
                    </a:lnTo>
                    <a:cubicBezTo>
                      <a:pt x="99060" y="8255"/>
                      <a:pt x="90170" y="0"/>
                      <a:pt x="7937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7" name="Google Shape;128;p14">
              <a:extLst>
                <a:ext uri="{FF2B5EF4-FFF2-40B4-BE49-F238E27FC236}">
                  <a16:creationId xmlns:a16="http://schemas.microsoft.com/office/drawing/2014/main" id="{74AED4C2-E41D-554A-96E7-038199BDFCE0}"/>
                </a:ext>
              </a:extLst>
            </p:cNvPr>
            <p:cNvGrpSpPr/>
            <p:nvPr/>
          </p:nvGrpSpPr>
          <p:grpSpPr>
            <a:xfrm>
              <a:off x="5943148" y="4559087"/>
              <a:ext cx="206292" cy="176235"/>
              <a:chOff x="1190625" y="238700"/>
              <a:chExt cx="5778500" cy="4936550"/>
            </a:xfrm>
          </p:grpSpPr>
          <p:sp>
            <p:nvSpPr>
              <p:cNvPr id="148" name="Google Shape;129;p14">
                <a:extLst>
                  <a:ext uri="{FF2B5EF4-FFF2-40B4-BE49-F238E27FC236}">
                    <a16:creationId xmlns:a16="http://schemas.microsoft.com/office/drawing/2014/main" id="{115B04CB-F7AF-7A42-B19D-D49D63A6283D}"/>
                  </a:ext>
                </a:extLst>
              </p:cNvPr>
              <p:cNvSpPr/>
              <p:nvPr/>
            </p:nvSpPr>
            <p:spPr>
              <a:xfrm>
                <a:off x="1190625" y="238700"/>
                <a:ext cx="5778500" cy="4936550"/>
              </a:xfrm>
              <a:custGeom>
                <a:avLst/>
                <a:gdLst/>
                <a:ahLst/>
                <a:cxnLst/>
                <a:rect l="l" t="t" r="r" b="b"/>
                <a:pathLst>
                  <a:path w="231140" h="197462" extrusionOk="0">
                    <a:moveTo>
                      <a:pt x="99592" y="1"/>
                    </a:moveTo>
                    <a:cubicBezTo>
                      <a:pt x="48768" y="1"/>
                      <a:pt x="0" y="39359"/>
                      <a:pt x="0" y="99037"/>
                    </a:cubicBezTo>
                    <a:cubicBezTo>
                      <a:pt x="0" y="153647"/>
                      <a:pt x="44450" y="197462"/>
                      <a:pt x="99060" y="197462"/>
                    </a:cubicBezTo>
                    <a:cubicBezTo>
                      <a:pt x="186690" y="197462"/>
                      <a:pt x="231140" y="91417"/>
                      <a:pt x="168910" y="29187"/>
                    </a:cubicBezTo>
                    <a:cubicBezTo>
                      <a:pt x="148755" y="9032"/>
                      <a:pt x="123938" y="1"/>
                      <a:pt x="99592" y="1"/>
                    </a:cubicBezTo>
                    <a:close/>
                  </a:path>
                </a:pathLst>
              </a:custGeom>
              <a:solidFill>
                <a:srgbClr val="3C3C3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30;p14">
                <a:extLst>
                  <a:ext uri="{FF2B5EF4-FFF2-40B4-BE49-F238E27FC236}">
                    <a16:creationId xmlns:a16="http://schemas.microsoft.com/office/drawing/2014/main" id="{00343C56-4C80-D64E-9ADA-64723D657A10}"/>
                  </a:ext>
                </a:extLst>
              </p:cNvPr>
              <p:cNvSpPr/>
              <p:nvPr/>
            </p:nvSpPr>
            <p:spPr>
              <a:xfrm>
                <a:off x="3063875" y="1470400"/>
                <a:ext cx="1190625" cy="248247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9299" extrusionOk="0">
                    <a:moveTo>
                      <a:pt x="33963" y="1"/>
                    </a:moveTo>
                    <a:cubicBezTo>
                      <a:pt x="32385" y="1"/>
                      <a:pt x="30798" y="80"/>
                      <a:pt x="29210" y="239"/>
                    </a:cubicBezTo>
                    <a:cubicBezTo>
                      <a:pt x="28723" y="185"/>
                      <a:pt x="28232" y="158"/>
                      <a:pt x="27738" y="158"/>
                    </a:cubicBezTo>
                    <a:cubicBezTo>
                      <a:pt x="22432" y="158"/>
                      <a:pt x="16821" y="3212"/>
                      <a:pt x="13335" y="7859"/>
                    </a:cubicBezTo>
                    <a:cubicBezTo>
                      <a:pt x="10795" y="12304"/>
                      <a:pt x="9525" y="17384"/>
                      <a:pt x="10160" y="23099"/>
                    </a:cubicBezTo>
                    <a:lnTo>
                      <a:pt x="10160" y="32624"/>
                    </a:lnTo>
                    <a:lnTo>
                      <a:pt x="0" y="32624"/>
                    </a:lnTo>
                    <a:lnTo>
                      <a:pt x="0" y="47864"/>
                    </a:lnTo>
                    <a:lnTo>
                      <a:pt x="10160" y="47864"/>
                    </a:lnTo>
                    <a:lnTo>
                      <a:pt x="10160" y="99299"/>
                    </a:lnTo>
                    <a:lnTo>
                      <a:pt x="29210" y="99299"/>
                    </a:lnTo>
                    <a:lnTo>
                      <a:pt x="29210" y="47864"/>
                    </a:lnTo>
                    <a:lnTo>
                      <a:pt x="44450" y="47864"/>
                    </a:lnTo>
                    <a:lnTo>
                      <a:pt x="45720" y="32624"/>
                    </a:lnTo>
                    <a:lnTo>
                      <a:pt x="29845" y="32624"/>
                    </a:lnTo>
                    <a:lnTo>
                      <a:pt x="29845" y="21194"/>
                    </a:lnTo>
                    <a:cubicBezTo>
                      <a:pt x="29845" y="17384"/>
                      <a:pt x="33020" y="16114"/>
                      <a:pt x="37465" y="16114"/>
                    </a:cubicBezTo>
                    <a:cubicBezTo>
                      <a:pt x="40005" y="16114"/>
                      <a:pt x="42545" y="16114"/>
                      <a:pt x="45085" y="17384"/>
                    </a:cubicBezTo>
                    <a:lnTo>
                      <a:pt x="47625" y="2144"/>
                    </a:lnTo>
                    <a:cubicBezTo>
                      <a:pt x="43339" y="715"/>
                      <a:pt x="38695" y="1"/>
                      <a:pt x="3396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58" name="Google Shape;182;p16">
            <a:extLst>
              <a:ext uri="{FF2B5EF4-FFF2-40B4-BE49-F238E27FC236}">
                <a16:creationId xmlns:a16="http://schemas.microsoft.com/office/drawing/2014/main" id="{DC5F3688-7343-CA4C-BE74-B9559E73DEE3}"/>
              </a:ext>
            </a:extLst>
          </p:cNvPr>
          <p:cNvSpPr txBox="1">
            <a:spLocks/>
          </p:cNvSpPr>
          <p:nvPr/>
        </p:nvSpPr>
        <p:spPr>
          <a:xfrm>
            <a:off x="456490" y="4492540"/>
            <a:ext cx="3567728" cy="40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buClr>
                <a:schemeClr val="dk1"/>
              </a:buClr>
              <a:buSzPts val="1100"/>
            </a:pPr>
            <a:r>
              <a:rPr lang="en-GB" sz="1200" b="1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InterFace" charset="0"/>
                <a:cs typeface="InterFace" charset="0"/>
                <a:sym typeface="Roboto Light"/>
              </a:rPr>
              <a:t>Connect with me on </a:t>
            </a:r>
            <a:r>
              <a:rPr lang="en-GB" sz="1200" b="1">
                <a:solidFill>
                  <a:srgbClr val="D96E2D"/>
                </a:solidFill>
                <a:latin typeface="Calibri"/>
                <a:ea typeface="InterFace" charset="0"/>
                <a:cs typeface="InterFace" charset="0"/>
                <a:sym typeface="Roboto Light"/>
              </a:rPr>
              <a:t>enterprisenation.com </a:t>
            </a:r>
            <a:r>
              <a:rPr lang="en-GB" sz="1200" b="1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InterFace" charset="0"/>
                <a:cs typeface="InterFace" charset="0"/>
                <a:sym typeface="Roboto Light"/>
              </a:rPr>
              <a:t>today</a:t>
            </a:r>
            <a:br>
              <a:rPr lang="en-GB" sz="3000">
                <a:latin typeface="Calibri"/>
                <a:ea typeface="InterFace Light" charset="0"/>
                <a:cs typeface="InterFace Light" charset="0"/>
              </a:rPr>
            </a:br>
            <a:endParaRPr lang="en-GB" sz="3600">
              <a:solidFill>
                <a:srgbClr val="E37420"/>
              </a:solidFill>
              <a:latin typeface="Calibri"/>
            </a:endParaRPr>
          </a:p>
        </p:txBody>
      </p:sp>
      <p:sp>
        <p:nvSpPr>
          <p:cNvPr id="163" name="Google Shape;97;p14">
            <a:extLst>
              <a:ext uri="{FF2B5EF4-FFF2-40B4-BE49-F238E27FC236}">
                <a16:creationId xmlns:a16="http://schemas.microsoft.com/office/drawing/2014/main" id="{D64FF936-7F1B-7541-88D6-87445D01801E}"/>
              </a:ext>
            </a:extLst>
          </p:cNvPr>
          <p:cNvSpPr txBox="1">
            <a:spLocks/>
          </p:cNvSpPr>
          <p:nvPr/>
        </p:nvSpPr>
        <p:spPr>
          <a:xfrm>
            <a:off x="475044" y="1629489"/>
            <a:ext cx="5664467" cy="2068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t>How to use AI to turn business data into useful answers</a:t>
            </a:r>
          </a:p>
          <a:p/>
          <a:p>
            <a:r>
              <a:t>Harinath Selvaraj</a:t>
            </a:r>
          </a:p>
          <a:p>
            <a:r>
              <a:t>Founder, Granola Consulting</a:t>
            </a:r>
          </a:p>
        </p:txBody>
      </p:sp>
      <p:pic>
        <p:nvPicPr>
          <p:cNvPr id="71" name="Graphic 70">
            <a:extLst>
              <a:ext uri="{FF2B5EF4-FFF2-40B4-BE49-F238E27FC236}">
                <a16:creationId xmlns:a16="http://schemas.microsoft.com/office/drawing/2014/main" id="{71715E0D-8D16-2441-8852-5E2062D9BB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21963" y="4448294"/>
            <a:ext cx="1047120" cy="1047120"/>
          </a:xfrm>
          <a:prstGeom prst="rect">
            <a:avLst/>
          </a:prstGeom>
        </p:spPr>
      </p:pic>
      <p:pic>
        <p:nvPicPr>
          <p:cNvPr id="74" name="Graphic 73">
            <a:extLst>
              <a:ext uri="{FF2B5EF4-FFF2-40B4-BE49-F238E27FC236}">
                <a16:creationId xmlns:a16="http://schemas.microsoft.com/office/drawing/2014/main" id="{5BBDB9CA-0797-2642-B078-1F1C882EC2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68491" y="2518065"/>
            <a:ext cx="1551018" cy="1551018"/>
          </a:xfrm>
          <a:prstGeom prst="rect">
            <a:avLst/>
          </a:prstGeom>
        </p:spPr>
      </p:pic>
      <p:grpSp>
        <p:nvGrpSpPr>
          <p:cNvPr id="102" name="Group 101">
            <a:extLst>
              <a:ext uri="{FF2B5EF4-FFF2-40B4-BE49-F238E27FC236}">
                <a16:creationId xmlns:a16="http://schemas.microsoft.com/office/drawing/2014/main" id="{11F13DD1-1417-EC4A-A2FB-B1E01743A145}"/>
              </a:ext>
            </a:extLst>
          </p:cNvPr>
          <p:cNvGrpSpPr/>
          <p:nvPr/>
        </p:nvGrpSpPr>
        <p:grpSpPr>
          <a:xfrm>
            <a:off x="475044" y="460701"/>
            <a:ext cx="1512647" cy="704867"/>
            <a:chOff x="3880193" y="2387600"/>
            <a:chExt cx="1752600" cy="816681"/>
          </a:xfrm>
        </p:grpSpPr>
        <p:pic>
          <p:nvPicPr>
            <p:cNvPr id="103" name="Graphic 102">
              <a:extLst>
                <a:ext uri="{FF2B5EF4-FFF2-40B4-BE49-F238E27FC236}">
                  <a16:creationId xmlns:a16="http://schemas.microsoft.com/office/drawing/2014/main" id="{33E6C2BB-7A66-CD44-8845-8EE706D90D8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886200" y="2387600"/>
              <a:ext cx="1371600" cy="368300"/>
            </a:xfrm>
            <a:prstGeom prst="rect">
              <a:avLst/>
            </a:prstGeom>
          </p:spPr>
        </p:pic>
        <p:pic>
          <p:nvPicPr>
            <p:cNvPr id="104" name="Graphic 103">
              <a:extLst>
                <a:ext uri="{FF2B5EF4-FFF2-40B4-BE49-F238E27FC236}">
                  <a16:creationId xmlns:a16="http://schemas.microsoft.com/office/drawing/2014/main" id="{DBE093A9-8142-434F-8732-6BA6A6CA511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880193" y="2835981"/>
              <a:ext cx="1752600" cy="368300"/>
            </a:xfrm>
            <a:prstGeom prst="rect">
              <a:avLst/>
            </a:prstGeom>
          </p:spPr>
        </p:pic>
      </p:grpSp>
      <p:pic>
        <p:nvPicPr>
          <p:cNvPr id="5" name="Picture 4" descr="A white x on a black background&#10;&#10;Description automatically generated">
            <a:extLst>
              <a:ext uri="{FF2B5EF4-FFF2-40B4-BE49-F238E27FC236}">
                <a16:creationId xmlns:a16="http://schemas.microsoft.com/office/drawing/2014/main" id="{89CE1662-EC5B-F80F-5130-204D0E81F29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14950" y="4507200"/>
            <a:ext cx="192600" cy="2106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1E977C0-411D-EE88-AFA5-A4CAE25179F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13547" y="281103"/>
            <a:ext cx="1510062" cy="724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315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9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93;p16">
            <a:extLst>
              <a:ext uri="{FF2B5EF4-FFF2-40B4-BE49-F238E27FC236}">
                <a16:creationId xmlns:a16="http://schemas.microsoft.com/office/drawing/2014/main" id="{86764CE6-BA73-DF44-B8DD-CB311D33273F}"/>
              </a:ext>
            </a:extLst>
          </p:cNvPr>
          <p:cNvSpPr/>
          <p:nvPr/>
        </p:nvSpPr>
        <p:spPr>
          <a:xfrm>
            <a:off x="3029579" y="-332014"/>
            <a:ext cx="992384" cy="977583"/>
          </a:xfrm>
          <a:custGeom>
            <a:avLst/>
            <a:gdLst/>
            <a:ahLst/>
            <a:cxnLst/>
            <a:rect l="l" t="t" r="r" b="b"/>
            <a:pathLst>
              <a:path w="211258" h="208107" extrusionOk="0">
                <a:moveTo>
                  <a:pt x="196318" y="0"/>
                </a:moveTo>
                <a:cubicBezTo>
                  <a:pt x="193981" y="0"/>
                  <a:pt x="191409" y="380"/>
                  <a:pt x="188647" y="1160"/>
                </a:cubicBezTo>
                <a:lnTo>
                  <a:pt x="16809" y="47234"/>
                </a:lnTo>
                <a:cubicBezTo>
                  <a:pt x="12714" y="48172"/>
                  <a:pt x="8959" y="50135"/>
                  <a:pt x="5888" y="52950"/>
                </a:cubicBezTo>
                <a:cubicBezTo>
                  <a:pt x="1" y="58838"/>
                  <a:pt x="1280" y="67114"/>
                  <a:pt x="9301" y="75134"/>
                </a:cubicBezTo>
                <a:lnTo>
                  <a:pt x="135150" y="200984"/>
                </a:lnTo>
                <a:cubicBezTo>
                  <a:pt x="139859" y="205692"/>
                  <a:pt x="144685" y="208107"/>
                  <a:pt x="149059" y="208107"/>
                </a:cubicBezTo>
                <a:cubicBezTo>
                  <a:pt x="152136" y="208107"/>
                  <a:pt x="154988" y="206913"/>
                  <a:pt x="157419" y="204482"/>
                </a:cubicBezTo>
                <a:cubicBezTo>
                  <a:pt x="160235" y="201325"/>
                  <a:pt x="162197" y="197571"/>
                  <a:pt x="163136" y="193475"/>
                </a:cubicBezTo>
                <a:lnTo>
                  <a:pt x="209124" y="21637"/>
                </a:lnTo>
                <a:cubicBezTo>
                  <a:pt x="211257" y="13958"/>
                  <a:pt x="210319" y="7474"/>
                  <a:pt x="206564" y="3720"/>
                </a:cubicBezTo>
                <a:cubicBezTo>
                  <a:pt x="204131" y="1287"/>
                  <a:pt x="200623" y="0"/>
                  <a:pt x="196318" y="0"/>
                </a:cubicBezTo>
                <a:close/>
              </a:path>
            </a:pathLst>
          </a:custGeom>
          <a:solidFill>
            <a:srgbClr val="E1722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1" name="Graphic 70">
            <a:extLst>
              <a:ext uri="{FF2B5EF4-FFF2-40B4-BE49-F238E27FC236}">
                <a16:creationId xmlns:a16="http://schemas.microsoft.com/office/drawing/2014/main" id="{71715E0D-8D16-2441-8852-5E2062D9BB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21963" y="4448294"/>
            <a:ext cx="1047120" cy="1047120"/>
          </a:xfrm>
          <a:prstGeom prst="rect">
            <a:avLst/>
          </a:prstGeom>
        </p:spPr>
      </p:pic>
      <p:grpSp>
        <p:nvGrpSpPr>
          <p:cNvPr id="102" name="Group 101">
            <a:extLst>
              <a:ext uri="{FF2B5EF4-FFF2-40B4-BE49-F238E27FC236}">
                <a16:creationId xmlns:a16="http://schemas.microsoft.com/office/drawing/2014/main" id="{11F13DD1-1417-EC4A-A2FB-B1E01743A145}"/>
              </a:ext>
            </a:extLst>
          </p:cNvPr>
          <p:cNvGrpSpPr/>
          <p:nvPr/>
        </p:nvGrpSpPr>
        <p:grpSpPr>
          <a:xfrm>
            <a:off x="475044" y="460701"/>
            <a:ext cx="1512647" cy="704867"/>
            <a:chOff x="3880193" y="2387600"/>
            <a:chExt cx="1752600" cy="816681"/>
          </a:xfrm>
        </p:grpSpPr>
        <p:pic>
          <p:nvPicPr>
            <p:cNvPr id="103" name="Graphic 102">
              <a:extLst>
                <a:ext uri="{FF2B5EF4-FFF2-40B4-BE49-F238E27FC236}">
                  <a16:creationId xmlns:a16="http://schemas.microsoft.com/office/drawing/2014/main" id="{33E6C2BB-7A66-CD44-8845-8EE706D90D8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886200" y="2387600"/>
              <a:ext cx="1371600" cy="368300"/>
            </a:xfrm>
            <a:prstGeom prst="rect">
              <a:avLst/>
            </a:prstGeom>
          </p:spPr>
        </p:pic>
        <p:pic>
          <p:nvPicPr>
            <p:cNvPr id="104" name="Graphic 103">
              <a:extLst>
                <a:ext uri="{FF2B5EF4-FFF2-40B4-BE49-F238E27FC236}">
                  <a16:creationId xmlns:a16="http://schemas.microsoft.com/office/drawing/2014/main" id="{DBE093A9-8142-434F-8732-6BA6A6CA511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880193" y="2835981"/>
              <a:ext cx="1752600" cy="368300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D128DBE-72CF-FA5E-EA71-136F854987AF}"/>
              </a:ext>
            </a:extLst>
          </p:cNvPr>
          <p:cNvSpPr txBox="1"/>
          <p:nvPr/>
        </p:nvSpPr>
        <p:spPr>
          <a:xfrm>
            <a:off x="351625" y="1479356"/>
            <a:ext cx="4619116" cy="22159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t>Why reporting feels harder than it should</a:t>
            </a:r>
          </a:p>
          <a:p/>
          <a:p>
            <a:r>
              <a:t>You already have the data — spreadsheets, CRM, shop till, website analytics</a:t>
            </a:r>
          </a:p>
          <a:p>
            <a:r>
              <a:t>Answers live in silos; month-end is when questions finally get answered</a:t>
            </a:r>
          </a:p>
          <a:p>
            <a:r>
              <a:t>Hiring a data team feels out of reach for most small businesses</a:t>
            </a:r>
          </a:p>
          <a:p>
            <a:r>
              <a:t>The gap isn’t more data — it’s turning what you have into clear next steps</a:t>
            </a:r>
          </a:p>
        </p:txBody>
      </p:sp>
      <p:sp>
        <p:nvSpPr>
          <p:cNvPr id="22" name="Google Shape;362;p20">
            <a:extLst>
              <a:ext uri="{FF2B5EF4-FFF2-40B4-BE49-F238E27FC236}">
                <a16:creationId xmlns:a16="http://schemas.microsoft.com/office/drawing/2014/main" id="{50E02C12-2F3A-6963-E1FE-799DC39605FC}"/>
              </a:ext>
            </a:extLst>
          </p:cNvPr>
          <p:cNvSpPr/>
          <p:nvPr/>
        </p:nvSpPr>
        <p:spPr>
          <a:xfrm>
            <a:off x="5439362" y="1603602"/>
            <a:ext cx="3273988" cy="209055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363;p20">
            <a:extLst>
              <a:ext uri="{FF2B5EF4-FFF2-40B4-BE49-F238E27FC236}">
                <a16:creationId xmlns:a16="http://schemas.microsoft.com/office/drawing/2014/main" id="{B5763821-1E55-3188-8281-33107A681550}"/>
              </a:ext>
            </a:extLst>
          </p:cNvPr>
          <p:cNvSpPr txBox="1">
            <a:spLocks noGrp="1"/>
          </p:cNvSpPr>
          <p:nvPr/>
        </p:nvSpPr>
        <p:spPr>
          <a:xfrm>
            <a:off x="5439362" y="2645052"/>
            <a:ext cx="3273988" cy="972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InterFace Bold" charset="0"/>
                <a:ea typeface="InterFace Bold" charset="0"/>
                <a:cs typeface="InterFace Bold" charset="0"/>
                <a:sym typeface="Roboto Medium"/>
              </a:rPr>
              <a:t>Image</a:t>
            </a:r>
            <a:endParaRPr sz="1200">
              <a:solidFill>
                <a:schemeClr val="dk1"/>
              </a:solidFill>
              <a:latin typeface="InterFace Light" charset="0"/>
              <a:ea typeface="InterFace Light" charset="0"/>
              <a:cs typeface="InterFace Light" charset="0"/>
              <a:sym typeface="Roboto Light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2AEAC6-A01B-57ED-E4A9-6C2563E2C5F2}"/>
              </a:ext>
            </a:extLst>
          </p:cNvPr>
          <p:cNvGrpSpPr/>
          <p:nvPr/>
        </p:nvGrpSpPr>
        <p:grpSpPr>
          <a:xfrm>
            <a:off x="5823929" y="4523565"/>
            <a:ext cx="2892015" cy="344520"/>
            <a:chOff x="5943148" y="4556126"/>
            <a:chExt cx="2892015" cy="344520"/>
          </a:xfrm>
        </p:grpSpPr>
        <p:graphicFrame>
          <p:nvGraphicFramePr>
            <p:cNvPr id="4" name="Google Shape;121;p14">
              <a:extLst>
                <a:ext uri="{FF2B5EF4-FFF2-40B4-BE49-F238E27FC236}">
                  <a16:creationId xmlns:a16="http://schemas.microsoft.com/office/drawing/2014/main" id="{85C9E6FE-3F2E-AD59-FE0F-A89EE331BFE4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244673089"/>
                </p:ext>
              </p:extLst>
            </p:nvPr>
          </p:nvGraphicFramePr>
          <p:xfrm>
            <a:off x="5958739" y="4576260"/>
            <a:ext cx="2876424" cy="324386"/>
          </p:xfrm>
          <a:graphic>
            <a:graphicData uri="http://schemas.openxmlformats.org/drawingml/2006/table">
              <a:tbl>
                <a:tblPr>
                  <a:noFill/>
                  <a:tableStyleId>{54C569FC-BCFD-4877-A475-6FB1CBB6E6DA}</a:tableStyleId>
                </a:tblPr>
                <a:tblGrid>
                  <a:gridCol w="966882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954771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954771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</a:tblGrid>
                <a:tr h="324386">
                  <a:tc>
                    <a:txBody>
                      <a:bodyPr/>
                      <a:lstStyle/>
                      <a:p>
                        <a:pPr marL="0" lvl="0" indent="0" algn="r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GB" sz="800" b="0" i="0">
                            <a:solidFill>
                              <a:schemeClr val="dk1"/>
                            </a:solidFill>
                            <a:latin typeface="Calibri"/>
                            <a:ea typeface="InterFace" charset="0"/>
                            <a:cs typeface="InterFace" charset="0"/>
                          </a:rPr>
                          <a:t> </a:t>
                        </a:r>
                        <a:r>
                          <a:rPr lang="en" sz="800" b="0" i="0">
                            <a:solidFill>
                              <a:schemeClr val="dk1"/>
                            </a:solidFill>
                            <a:latin typeface="Calibri"/>
                            <a:ea typeface="InterFace" charset="0"/>
                            <a:cs typeface="InterFace" charset="0"/>
                            <a:sym typeface="Roboto Light"/>
                          </a:rPr>
                          <a:t>Enterprise Nation</a:t>
                        </a:r>
                        <a:endParaRPr sz="800" b="0" i="0">
                          <a:latin typeface="Calibri"/>
                          <a:ea typeface="InterFace" charset="0"/>
                          <a:cs typeface="InterFace" charset="0"/>
                        </a:endParaRPr>
                      </a:p>
                    </a:txBody>
                    <a:tcPr marL="0" marR="0" marT="0" marB="0">
                      <a:lnL w="9525" cap="flat" cmpd="sng">
                        <a:solidFill>
                          <a:srgbClr val="9E9E9E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rgbClr val="9E9E9E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9E9E9E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rgbClr val="9E9E9E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r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sz="800" b="0" i="0">
                            <a:solidFill>
                              <a:schemeClr val="dk1"/>
                            </a:solidFill>
                            <a:latin typeface="Calibri"/>
                            <a:ea typeface="InterFace" charset="0"/>
                            <a:cs typeface="InterFace" charset="0"/>
                          </a:rPr>
                          <a:t>            </a:t>
                        </a:r>
                        <a:r>
                          <a:rPr lang="en" sz="800" b="0" i="0">
                            <a:solidFill>
                              <a:schemeClr val="dk1"/>
                            </a:solidFill>
                            <a:latin typeface="Calibri"/>
                            <a:ea typeface="InterFace" charset="0"/>
                            <a:cs typeface="InterFace" charset="0"/>
                            <a:sym typeface="Roboto Light"/>
                          </a:rPr>
                          <a:t> </a:t>
                        </a:r>
                        <a:r>
                          <a:rPr lang="en" sz="800" b="0" i="0" err="1">
                            <a:solidFill>
                              <a:schemeClr val="dk1"/>
                            </a:solidFill>
                            <a:latin typeface="Calibri"/>
                            <a:ea typeface="InterFace" charset="0"/>
                            <a:cs typeface="InterFace" charset="0"/>
                            <a:sym typeface="Roboto Light"/>
                          </a:rPr>
                          <a:t>e_nation</a:t>
                        </a:r>
                        <a:endParaRPr sz="800" b="0" i="0">
                          <a:latin typeface="Calibri"/>
                          <a:ea typeface="InterFace" charset="0"/>
                          <a:cs typeface="InterFace" charset="0"/>
                        </a:endParaRPr>
                      </a:p>
                    </a:txBody>
                    <a:tcPr marL="0" marR="0" marT="0" marB="0">
                      <a:lnL w="9525" cap="flat" cmpd="sng" algn="ctr">
                        <a:solidFill>
                          <a:srgbClr val="9E9E9E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9E9E9E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9E9E9E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9E9E9E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r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sz="800" b="0" i="0" err="1">
                            <a:solidFill>
                              <a:schemeClr val="dk1"/>
                            </a:solidFill>
                            <a:latin typeface="Calibri"/>
                            <a:ea typeface="InterFace" charset="0"/>
                            <a:cs typeface="InterFace" charset="0"/>
                            <a:sym typeface="Roboto Light"/>
                          </a:rPr>
                          <a:t>e_nation</a:t>
                        </a:r>
                        <a:endParaRPr sz="800" b="0" i="0">
                          <a:latin typeface="Calibri"/>
                          <a:ea typeface="InterFace" charset="0"/>
                          <a:cs typeface="InterFace" charset="0"/>
                        </a:endParaRPr>
                      </a:p>
                    </a:txBody>
                    <a:tcPr marL="0" marR="0" marT="0" marB="0">
                      <a:lnL w="9525" cap="flat" cmpd="sng">
                        <a:solidFill>
                          <a:srgbClr val="9E9E9E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9E9E9E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9E9E9E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9E9E9E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sp>
          <p:nvSpPr>
            <p:cNvPr id="5" name="Google Shape;123;p14">
              <a:extLst>
                <a:ext uri="{FF2B5EF4-FFF2-40B4-BE49-F238E27FC236}">
                  <a16:creationId xmlns:a16="http://schemas.microsoft.com/office/drawing/2014/main" id="{DC581BE8-3836-DB20-38C5-4C60B0F0C770}"/>
                </a:ext>
              </a:extLst>
            </p:cNvPr>
            <p:cNvSpPr/>
            <p:nvPr/>
          </p:nvSpPr>
          <p:spPr>
            <a:xfrm>
              <a:off x="7244061" y="4558347"/>
              <a:ext cx="208026" cy="177716"/>
            </a:xfrm>
            <a:custGeom>
              <a:avLst/>
              <a:gdLst/>
              <a:ahLst/>
              <a:cxnLst/>
              <a:rect l="l" t="t" r="r" b="b"/>
              <a:pathLst>
                <a:path w="231140" h="197462" extrusionOk="0">
                  <a:moveTo>
                    <a:pt x="99592" y="1"/>
                  </a:moveTo>
                  <a:cubicBezTo>
                    <a:pt x="48768" y="1"/>
                    <a:pt x="0" y="39359"/>
                    <a:pt x="0" y="99037"/>
                  </a:cubicBezTo>
                  <a:cubicBezTo>
                    <a:pt x="0" y="153647"/>
                    <a:pt x="44450" y="197462"/>
                    <a:pt x="99060" y="197462"/>
                  </a:cubicBezTo>
                  <a:cubicBezTo>
                    <a:pt x="186690" y="197462"/>
                    <a:pt x="231140" y="91417"/>
                    <a:pt x="168910" y="29187"/>
                  </a:cubicBezTo>
                  <a:cubicBezTo>
                    <a:pt x="148755" y="9032"/>
                    <a:pt x="123938" y="1"/>
                    <a:pt x="99592" y="1"/>
                  </a:cubicBezTo>
                  <a:close/>
                </a:path>
              </a:pathLst>
            </a:custGeom>
            <a:solidFill>
              <a:srgbClr val="3C3C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" name="Google Shape;125;p14">
              <a:extLst>
                <a:ext uri="{FF2B5EF4-FFF2-40B4-BE49-F238E27FC236}">
                  <a16:creationId xmlns:a16="http://schemas.microsoft.com/office/drawing/2014/main" id="{8B4E50EB-EEBC-C8F4-4912-0AD5A913DDF4}"/>
                </a:ext>
              </a:extLst>
            </p:cNvPr>
            <p:cNvGrpSpPr/>
            <p:nvPr/>
          </p:nvGrpSpPr>
          <p:grpSpPr>
            <a:xfrm>
              <a:off x="8206933" y="4556126"/>
              <a:ext cx="213227" cy="182159"/>
              <a:chOff x="1190625" y="238700"/>
              <a:chExt cx="5778500" cy="4936550"/>
            </a:xfrm>
          </p:grpSpPr>
          <p:sp>
            <p:nvSpPr>
              <p:cNvPr id="10" name="Google Shape;126;p14">
                <a:extLst>
                  <a:ext uri="{FF2B5EF4-FFF2-40B4-BE49-F238E27FC236}">
                    <a16:creationId xmlns:a16="http://schemas.microsoft.com/office/drawing/2014/main" id="{D4BD87EC-874B-226F-58D5-99C007CD60A1}"/>
                  </a:ext>
                </a:extLst>
              </p:cNvPr>
              <p:cNvSpPr/>
              <p:nvPr/>
            </p:nvSpPr>
            <p:spPr>
              <a:xfrm>
                <a:off x="1190625" y="238700"/>
                <a:ext cx="5778500" cy="4936550"/>
              </a:xfrm>
              <a:custGeom>
                <a:avLst/>
                <a:gdLst/>
                <a:ahLst/>
                <a:cxnLst/>
                <a:rect l="l" t="t" r="r" b="b"/>
                <a:pathLst>
                  <a:path w="231140" h="197462" extrusionOk="0">
                    <a:moveTo>
                      <a:pt x="99592" y="1"/>
                    </a:moveTo>
                    <a:cubicBezTo>
                      <a:pt x="48768" y="1"/>
                      <a:pt x="0" y="39359"/>
                      <a:pt x="0" y="99037"/>
                    </a:cubicBezTo>
                    <a:cubicBezTo>
                      <a:pt x="0" y="153647"/>
                      <a:pt x="44450" y="197462"/>
                      <a:pt x="99060" y="197462"/>
                    </a:cubicBezTo>
                    <a:cubicBezTo>
                      <a:pt x="186690" y="197462"/>
                      <a:pt x="231140" y="91417"/>
                      <a:pt x="168910" y="29187"/>
                    </a:cubicBezTo>
                    <a:cubicBezTo>
                      <a:pt x="148755" y="9032"/>
                      <a:pt x="123938" y="1"/>
                      <a:pt x="99592" y="1"/>
                    </a:cubicBezTo>
                    <a:close/>
                  </a:path>
                </a:pathLst>
              </a:custGeom>
              <a:solidFill>
                <a:srgbClr val="3C3C3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127;p14">
                <a:extLst>
                  <a:ext uri="{FF2B5EF4-FFF2-40B4-BE49-F238E27FC236}">
                    <a16:creationId xmlns:a16="http://schemas.microsoft.com/office/drawing/2014/main" id="{64FDA78F-7BA0-2AE1-8B99-890A9DB45BF0}"/>
                  </a:ext>
                </a:extLst>
              </p:cNvPr>
              <p:cNvSpPr/>
              <p:nvPr/>
            </p:nvSpPr>
            <p:spPr>
              <a:xfrm>
                <a:off x="2428875" y="1476375"/>
                <a:ext cx="2476500" cy="2476500"/>
              </a:xfrm>
              <a:custGeom>
                <a:avLst/>
                <a:gdLst/>
                <a:ahLst/>
                <a:cxnLst/>
                <a:rect l="l" t="t" r="r" b="b"/>
                <a:pathLst>
                  <a:path w="99060" h="99060" extrusionOk="0">
                    <a:moveTo>
                      <a:pt x="87630" y="11430"/>
                    </a:moveTo>
                    <a:lnTo>
                      <a:pt x="87630" y="27940"/>
                    </a:lnTo>
                    <a:lnTo>
                      <a:pt x="70485" y="27940"/>
                    </a:lnTo>
                    <a:lnTo>
                      <a:pt x="70485" y="11430"/>
                    </a:lnTo>
                    <a:close/>
                    <a:moveTo>
                      <a:pt x="49530" y="31750"/>
                    </a:moveTo>
                    <a:cubicBezTo>
                      <a:pt x="54610" y="31750"/>
                      <a:pt x="60325" y="34290"/>
                      <a:pt x="63500" y="39370"/>
                    </a:cubicBezTo>
                    <a:cubicBezTo>
                      <a:pt x="71755" y="50800"/>
                      <a:pt x="63500" y="66675"/>
                      <a:pt x="49530" y="66675"/>
                    </a:cubicBezTo>
                    <a:cubicBezTo>
                      <a:pt x="34925" y="66675"/>
                      <a:pt x="26670" y="50800"/>
                      <a:pt x="35560" y="39370"/>
                    </a:cubicBezTo>
                    <a:cubicBezTo>
                      <a:pt x="38735" y="34290"/>
                      <a:pt x="43815" y="31750"/>
                      <a:pt x="49530" y="31750"/>
                    </a:cubicBezTo>
                    <a:close/>
                    <a:moveTo>
                      <a:pt x="88900" y="39370"/>
                    </a:moveTo>
                    <a:lnTo>
                      <a:pt x="88900" y="79375"/>
                    </a:lnTo>
                    <a:cubicBezTo>
                      <a:pt x="88900" y="85090"/>
                      <a:pt x="85090" y="88900"/>
                      <a:pt x="79375" y="88900"/>
                    </a:cubicBezTo>
                    <a:lnTo>
                      <a:pt x="19050" y="88900"/>
                    </a:lnTo>
                    <a:cubicBezTo>
                      <a:pt x="13970" y="88900"/>
                      <a:pt x="9525" y="85090"/>
                      <a:pt x="9525" y="79375"/>
                    </a:cubicBezTo>
                    <a:lnTo>
                      <a:pt x="9525" y="39370"/>
                    </a:lnTo>
                    <a:lnTo>
                      <a:pt x="24130" y="39370"/>
                    </a:lnTo>
                    <a:cubicBezTo>
                      <a:pt x="22860" y="42545"/>
                      <a:pt x="22225" y="45720"/>
                      <a:pt x="22225" y="49530"/>
                    </a:cubicBezTo>
                    <a:cubicBezTo>
                      <a:pt x="23178" y="66358"/>
                      <a:pt x="36195" y="74771"/>
                      <a:pt x="49213" y="74771"/>
                    </a:cubicBezTo>
                    <a:cubicBezTo>
                      <a:pt x="62230" y="74771"/>
                      <a:pt x="75248" y="66358"/>
                      <a:pt x="76200" y="49530"/>
                    </a:cubicBezTo>
                    <a:cubicBezTo>
                      <a:pt x="76200" y="45720"/>
                      <a:pt x="75565" y="42545"/>
                      <a:pt x="74295" y="39370"/>
                    </a:cubicBezTo>
                    <a:close/>
                    <a:moveTo>
                      <a:pt x="19050" y="0"/>
                    </a:moveTo>
                    <a:cubicBezTo>
                      <a:pt x="8255" y="0"/>
                      <a:pt x="0" y="8255"/>
                      <a:pt x="0" y="19050"/>
                    </a:cubicBezTo>
                    <a:lnTo>
                      <a:pt x="0" y="79375"/>
                    </a:lnTo>
                    <a:cubicBezTo>
                      <a:pt x="0" y="90170"/>
                      <a:pt x="8255" y="98425"/>
                      <a:pt x="19050" y="99060"/>
                    </a:cubicBezTo>
                    <a:lnTo>
                      <a:pt x="79375" y="99060"/>
                    </a:lnTo>
                    <a:cubicBezTo>
                      <a:pt x="90170" y="99060"/>
                      <a:pt x="99060" y="90170"/>
                      <a:pt x="99060" y="79375"/>
                    </a:cubicBezTo>
                    <a:lnTo>
                      <a:pt x="99060" y="19050"/>
                    </a:lnTo>
                    <a:cubicBezTo>
                      <a:pt x="99060" y="8255"/>
                      <a:pt x="90170" y="0"/>
                      <a:pt x="7937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" name="Google Shape;128;p14">
              <a:extLst>
                <a:ext uri="{FF2B5EF4-FFF2-40B4-BE49-F238E27FC236}">
                  <a16:creationId xmlns:a16="http://schemas.microsoft.com/office/drawing/2014/main" id="{946C0B5F-81D1-4588-B1C5-C9901FE91BA9}"/>
                </a:ext>
              </a:extLst>
            </p:cNvPr>
            <p:cNvGrpSpPr/>
            <p:nvPr/>
          </p:nvGrpSpPr>
          <p:grpSpPr>
            <a:xfrm>
              <a:off x="5943148" y="4559087"/>
              <a:ext cx="206292" cy="176235"/>
              <a:chOff x="1190625" y="238700"/>
              <a:chExt cx="5778500" cy="4936550"/>
            </a:xfrm>
          </p:grpSpPr>
          <p:sp>
            <p:nvSpPr>
              <p:cNvPr id="8" name="Google Shape;129;p14">
                <a:extLst>
                  <a:ext uri="{FF2B5EF4-FFF2-40B4-BE49-F238E27FC236}">
                    <a16:creationId xmlns:a16="http://schemas.microsoft.com/office/drawing/2014/main" id="{412E2CBF-A3BB-F6E5-7F85-812E9E0526B2}"/>
                  </a:ext>
                </a:extLst>
              </p:cNvPr>
              <p:cNvSpPr/>
              <p:nvPr/>
            </p:nvSpPr>
            <p:spPr>
              <a:xfrm>
                <a:off x="1190625" y="238700"/>
                <a:ext cx="5778500" cy="4936550"/>
              </a:xfrm>
              <a:custGeom>
                <a:avLst/>
                <a:gdLst/>
                <a:ahLst/>
                <a:cxnLst/>
                <a:rect l="l" t="t" r="r" b="b"/>
                <a:pathLst>
                  <a:path w="231140" h="197462" extrusionOk="0">
                    <a:moveTo>
                      <a:pt x="99592" y="1"/>
                    </a:moveTo>
                    <a:cubicBezTo>
                      <a:pt x="48768" y="1"/>
                      <a:pt x="0" y="39359"/>
                      <a:pt x="0" y="99037"/>
                    </a:cubicBezTo>
                    <a:cubicBezTo>
                      <a:pt x="0" y="153647"/>
                      <a:pt x="44450" y="197462"/>
                      <a:pt x="99060" y="197462"/>
                    </a:cubicBezTo>
                    <a:cubicBezTo>
                      <a:pt x="186690" y="197462"/>
                      <a:pt x="231140" y="91417"/>
                      <a:pt x="168910" y="29187"/>
                    </a:cubicBezTo>
                    <a:cubicBezTo>
                      <a:pt x="148755" y="9032"/>
                      <a:pt x="123938" y="1"/>
                      <a:pt x="99592" y="1"/>
                    </a:cubicBezTo>
                    <a:close/>
                  </a:path>
                </a:pathLst>
              </a:custGeom>
              <a:solidFill>
                <a:srgbClr val="3C3C3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130;p14">
                <a:extLst>
                  <a:ext uri="{FF2B5EF4-FFF2-40B4-BE49-F238E27FC236}">
                    <a16:creationId xmlns:a16="http://schemas.microsoft.com/office/drawing/2014/main" id="{54D2376E-4450-B904-F65D-2A202193DE6D}"/>
                  </a:ext>
                </a:extLst>
              </p:cNvPr>
              <p:cNvSpPr/>
              <p:nvPr/>
            </p:nvSpPr>
            <p:spPr>
              <a:xfrm>
                <a:off x="3063875" y="1470400"/>
                <a:ext cx="1190625" cy="248247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9299" extrusionOk="0">
                    <a:moveTo>
                      <a:pt x="33963" y="1"/>
                    </a:moveTo>
                    <a:cubicBezTo>
                      <a:pt x="32385" y="1"/>
                      <a:pt x="30798" y="80"/>
                      <a:pt x="29210" y="239"/>
                    </a:cubicBezTo>
                    <a:cubicBezTo>
                      <a:pt x="28723" y="185"/>
                      <a:pt x="28232" y="158"/>
                      <a:pt x="27738" y="158"/>
                    </a:cubicBezTo>
                    <a:cubicBezTo>
                      <a:pt x="22432" y="158"/>
                      <a:pt x="16821" y="3212"/>
                      <a:pt x="13335" y="7859"/>
                    </a:cubicBezTo>
                    <a:cubicBezTo>
                      <a:pt x="10795" y="12304"/>
                      <a:pt x="9525" y="17384"/>
                      <a:pt x="10160" y="23099"/>
                    </a:cubicBezTo>
                    <a:lnTo>
                      <a:pt x="10160" y="32624"/>
                    </a:lnTo>
                    <a:lnTo>
                      <a:pt x="0" y="32624"/>
                    </a:lnTo>
                    <a:lnTo>
                      <a:pt x="0" y="47864"/>
                    </a:lnTo>
                    <a:lnTo>
                      <a:pt x="10160" y="47864"/>
                    </a:lnTo>
                    <a:lnTo>
                      <a:pt x="10160" y="99299"/>
                    </a:lnTo>
                    <a:lnTo>
                      <a:pt x="29210" y="99299"/>
                    </a:lnTo>
                    <a:lnTo>
                      <a:pt x="29210" y="47864"/>
                    </a:lnTo>
                    <a:lnTo>
                      <a:pt x="44450" y="47864"/>
                    </a:lnTo>
                    <a:lnTo>
                      <a:pt x="45720" y="32624"/>
                    </a:lnTo>
                    <a:lnTo>
                      <a:pt x="29845" y="32624"/>
                    </a:lnTo>
                    <a:lnTo>
                      <a:pt x="29845" y="21194"/>
                    </a:lnTo>
                    <a:cubicBezTo>
                      <a:pt x="29845" y="17384"/>
                      <a:pt x="33020" y="16114"/>
                      <a:pt x="37465" y="16114"/>
                    </a:cubicBezTo>
                    <a:cubicBezTo>
                      <a:pt x="40005" y="16114"/>
                      <a:pt x="42545" y="16114"/>
                      <a:pt x="45085" y="17384"/>
                    </a:cubicBezTo>
                    <a:lnTo>
                      <a:pt x="47625" y="2144"/>
                    </a:lnTo>
                    <a:cubicBezTo>
                      <a:pt x="43339" y="715"/>
                      <a:pt x="38695" y="1"/>
                      <a:pt x="3396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14" name="Picture 13" descr="A white x on a black background&#10;&#10;Description automatically generated">
            <a:extLst>
              <a:ext uri="{FF2B5EF4-FFF2-40B4-BE49-F238E27FC236}">
                <a16:creationId xmlns:a16="http://schemas.microsoft.com/office/drawing/2014/main" id="{70BCA23F-5EB1-C026-0898-F062E118D99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14950" y="4507200"/>
            <a:ext cx="192600" cy="2106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A021588-DAC5-4DFD-6C8C-DA7CE1F26C2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13547" y="281103"/>
            <a:ext cx="1510062" cy="724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837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9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93;p16">
            <a:extLst>
              <a:ext uri="{FF2B5EF4-FFF2-40B4-BE49-F238E27FC236}">
                <a16:creationId xmlns:a16="http://schemas.microsoft.com/office/drawing/2014/main" id="{86764CE6-BA73-DF44-B8DD-CB311D33273F}"/>
              </a:ext>
            </a:extLst>
          </p:cNvPr>
          <p:cNvSpPr/>
          <p:nvPr/>
        </p:nvSpPr>
        <p:spPr>
          <a:xfrm>
            <a:off x="3029579" y="-332014"/>
            <a:ext cx="992384" cy="977583"/>
          </a:xfrm>
          <a:custGeom>
            <a:avLst/>
            <a:gdLst/>
            <a:ahLst/>
            <a:cxnLst/>
            <a:rect l="l" t="t" r="r" b="b"/>
            <a:pathLst>
              <a:path w="211258" h="208107" extrusionOk="0">
                <a:moveTo>
                  <a:pt x="196318" y="0"/>
                </a:moveTo>
                <a:cubicBezTo>
                  <a:pt x="193981" y="0"/>
                  <a:pt x="191409" y="380"/>
                  <a:pt x="188647" y="1160"/>
                </a:cubicBezTo>
                <a:lnTo>
                  <a:pt x="16809" y="47234"/>
                </a:lnTo>
                <a:cubicBezTo>
                  <a:pt x="12714" y="48172"/>
                  <a:pt x="8959" y="50135"/>
                  <a:pt x="5888" y="52950"/>
                </a:cubicBezTo>
                <a:cubicBezTo>
                  <a:pt x="1" y="58838"/>
                  <a:pt x="1280" y="67114"/>
                  <a:pt x="9301" y="75134"/>
                </a:cubicBezTo>
                <a:lnTo>
                  <a:pt x="135150" y="200984"/>
                </a:lnTo>
                <a:cubicBezTo>
                  <a:pt x="139859" y="205692"/>
                  <a:pt x="144685" y="208107"/>
                  <a:pt x="149059" y="208107"/>
                </a:cubicBezTo>
                <a:cubicBezTo>
                  <a:pt x="152136" y="208107"/>
                  <a:pt x="154988" y="206913"/>
                  <a:pt x="157419" y="204482"/>
                </a:cubicBezTo>
                <a:cubicBezTo>
                  <a:pt x="160235" y="201325"/>
                  <a:pt x="162197" y="197571"/>
                  <a:pt x="163136" y="193475"/>
                </a:cubicBezTo>
                <a:lnTo>
                  <a:pt x="209124" y="21637"/>
                </a:lnTo>
                <a:cubicBezTo>
                  <a:pt x="211257" y="13958"/>
                  <a:pt x="210319" y="7474"/>
                  <a:pt x="206564" y="3720"/>
                </a:cubicBezTo>
                <a:cubicBezTo>
                  <a:pt x="204131" y="1287"/>
                  <a:pt x="200623" y="0"/>
                  <a:pt x="196318" y="0"/>
                </a:cubicBezTo>
                <a:close/>
              </a:path>
            </a:pathLst>
          </a:custGeom>
          <a:solidFill>
            <a:srgbClr val="E1722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97;p14">
            <a:extLst>
              <a:ext uri="{FF2B5EF4-FFF2-40B4-BE49-F238E27FC236}">
                <a16:creationId xmlns:a16="http://schemas.microsoft.com/office/drawing/2014/main" id="{D64FF936-7F1B-7541-88D6-87445D01801E}"/>
              </a:ext>
            </a:extLst>
          </p:cNvPr>
          <p:cNvSpPr txBox="1">
            <a:spLocks/>
          </p:cNvSpPr>
          <p:nvPr/>
        </p:nvSpPr>
        <p:spPr>
          <a:xfrm>
            <a:off x="1062993" y="1545841"/>
            <a:ext cx="6775943" cy="2068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t>“Small businesses are often data-rich but insight-poor — not because the numbers aren’t there, but because getting a straight answer takes too long.”</a:t>
            </a:r>
          </a:p>
        </p:txBody>
      </p:sp>
      <p:pic>
        <p:nvPicPr>
          <p:cNvPr id="71" name="Graphic 70">
            <a:extLst>
              <a:ext uri="{FF2B5EF4-FFF2-40B4-BE49-F238E27FC236}">
                <a16:creationId xmlns:a16="http://schemas.microsoft.com/office/drawing/2014/main" id="{71715E0D-8D16-2441-8852-5E2062D9BB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21963" y="4448294"/>
            <a:ext cx="1047120" cy="1047120"/>
          </a:xfrm>
          <a:prstGeom prst="rect">
            <a:avLst/>
          </a:prstGeom>
        </p:spPr>
      </p:pic>
      <p:pic>
        <p:nvPicPr>
          <p:cNvPr id="74" name="Graphic 73">
            <a:extLst>
              <a:ext uri="{FF2B5EF4-FFF2-40B4-BE49-F238E27FC236}">
                <a16:creationId xmlns:a16="http://schemas.microsoft.com/office/drawing/2014/main" id="{5BBDB9CA-0797-2642-B078-1F1C882EC2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68491" y="2518065"/>
            <a:ext cx="1551018" cy="1551018"/>
          </a:xfrm>
          <a:prstGeom prst="rect">
            <a:avLst/>
          </a:prstGeom>
        </p:spPr>
      </p:pic>
      <p:grpSp>
        <p:nvGrpSpPr>
          <p:cNvPr id="102" name="Group 101">
            <a:extLst>
              <a:ext uri="{FF2B5EF4-FFF2-40B4-BE49-F238E27FC236}">
                <a16:creationId xmlns:a16="http://schemas.microsoft.com/office/drawing/2014/main" id="{11F13DD1-1417-EC4A-A2FB-B1E01743A145}"/>
              </a:ext>
            </a:extLst>
          </p:cNvPr>
          <p:cNvGrpSpPr/>
          <p:nvPr/>
        </p:nvGrpSpPr>
        <p:grpSpPr>
          <a:xfrm>
            <a:off x="475044" y="460701"/>
            <a:ext cx="1512647" cy="704867"/>
            <a:chOff x="3880193" y="2387600"/>
            <a:chExt cx="1752600" cy="816681"/>
          </a:xfrm>
        </p:grpSpPr>
        <p:pic>
          <p:nvPicPr>
            <p:cNvPr id="103" name="Graphic 102">
              <a:extLst>
                <a:ext uri="{FF2B5EF4-FFF2-40B4-BE49-F238E27FC236}">
                  <a16:creationId xmlns:a16="http://schemas.microsoft.com/office/drawing/2014/main" id="{33E6C2BB-7A66-CD44-8845-8EE706D90D8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886200" y="2387600"/>
              <a:ext cx="1371600" cy="368300"/>
            </a:xfrm>
            <a:prstGeom prst="rect">
              <a:avLst/>
            </a:prstGeom>
          </p:spPr>
        </p:pic>
        <p:pic>
          <p:nvPicPr>
            <p:cNvPr id="104" name="Graphic 103">
              <a:extLst>
                <a:ext uri="{FF2B5EF4-FFF2-40B4-BE49-F238E27FC236}">
                  <a16:creationId xmlns:a16="http://schemas.microsoft.com/office/drawing/2014/main" id="{DBE093A9-8142-434F-8732-6BA6A6CA511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880193" y="2835981"/>
              <a:ext cx="1752600" cy="368300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418B171-13EE-9A2C-24B5-EC12AED67E09}"/>
              </a:ext>
            </a:extLst>
          </p:cNvPr>
          <p:cNvGrpSpPr/>
          <p:nvPr/>
        </p:nvGrpSpPr>
        <p:grpSpPr>
          <a:xfrm>
            <a:off x="5823929" y="4523565"/>
            <a:ext cx="2892015" cy="344520"/>
            <a:chOff x="5943148" y="4556126"/>
            <a:chExt cx="2892015" cy="344520"/>
          </a:xfrm>
        </p:grpSpPr>
        <p:graphicFrame>
          <p:nvGraphicFramePr>
            <p:cNvPr id="3" name="Google Shape;121;p14">
              <a:extLst>
                <a:ext uri="{FF2B5EF4-FFF2-40B4-BE49-F238E27FC236}">
                  <a16:creationId xmlns:a16="http://schemas.microsoft.com/office/drawing/2014/main" id="{A7CE939B-3F9B-A30F-CA9A-A12141887354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003216155"/>
                </p:ext>
              </p:extLst>
            </p:nvPr>
          </p:nvGraphicFramePr>
          <p:xfrm>
            <a:off x="5958739" y="4576260"/>
            <a:ext cx="2876424" cy="324386"/>
          </p:xfrm>
          <a:graphic>
            <a:graphicData uri="http://schemas.openxmlformats.org/drawingml/2006/table">
              <a:tbl>
                <a:tblPr>
                  <a:noFill/>
                  <a:tableStyleId>{54C569FC-BCFD-4877-A475-6FB1CBB6E6DA}</a:tableStyleId>
                </a:tblPr>
                <a:tblGrid>
                  <a:gridCol w="966882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954771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954771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</a:tblGrid>
                <a:tr h="324386">
                  <a:tc>
                    <a:txBody>
                      <a:bodyPr/>
                      <a:lstStyle/>
                      <a:p>
                        <a:pPr marL="0" lvl="0" indent="0" algn="r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GB" sz="800" b="0" i="0">
                            <a:solidFill>
                              <a:schemeClr val="dk1"/>
                            </a:solidFill>
                            <a:latin typeface="Calibri"/>
                            <a:ea typeface="InterFace" charset="0"/>
                            <a:cs typeface="InterFace" charset="0"/>
                          </a:rPr>
                          <a:t> </a:t>
                        </a:r>
                        <a:r>
                          <a:rPr lang="en" sz="800" b="0" i="0">
                            <a:solidFill>
                              <a:schemeClr val="dk1"/>
                            </a:solidFill>
                            <a:latin typeface="Calibri"/>
                            <a:ea typeface="InterFace" charset="0"/>
                            <a:cs typeface="InterFace" charset="0"/>
                            <a:sym typeface="Roboto Light"/>
                          </a:rPr>
                          <a:t>Enterprise Nation</a:t>
                        </a:r>
                        <a:endParaRPr sz="800" b="0" i="0">
                          <a:latin typeface="Calibri"/>
                          <a:ea typeface="InterFace" charset="0"/>
                          <a:cs typeface="InterFace" charset="0"/>
                        </a:endParaRPr>
                      </a:p>
                    </a:txBody>
                    <a:tcPr marL="0" marR="0" marT="0" marB="0">
                      <a:lnL w="9525" cap="flat" cmpd="sng">
                        <a:solidFill>
                          <a:srgbClr val="9E9E9E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rgbClr val="9E9E9E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9E9E9E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rgbClr val="9E9E9E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r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sz="800" b="0" i="0">
                            <a:solidFill>
                              <a:schemeClr val="dk1"/>
                            </a:solidFill>
                            <a:latin typeface="Calibri"/>
                            <a:ea typeface="InterFace" charset="0"/>
                            <a:cs typeface="InterFace" charset="0"/>
                          </a:rPr>
                          <a:t>            </a:t>
                        </a:r>
                        <a:r>
                          <a:rPr lang="en" sz="800" b="0" i="0">
                            <a:solidFill>
                              <a:schemeClr val="dk1"/>
                            </a:solidFill>
                            <a:latin typeface="Calibri"/>
                            <a:ea typeface="InterFace" charset="0"/>
                            <a:cs typeface="InterFace" charset="0"/>
                            <a:sym typeface="Roboto Light"/>
                          </a:rPr>
                          <a:t> </a:t>
                        </a:r>
                        <a:r>
                          <a:rPr lang="en" sz="800" b="0" i="0" err="1">
                            <a:solidFill>
                              <a:schemeClr val="dk1"/>
                            </a:solidFill>
                            <a:latin typeface="Calibri"/>
                            <a:ea typeface="InterFace" charset="0"/>
                            <a:cs typeface="InterFace" charset="0"/>
                            <a:sym typeface="Roboto Light"/>
                          </a:rPr>
                          <a:t>e_nation</a:t>
                        </a:r>
                        <a:endParaRPr sz="800" b="0" i="0">
                          <a:latin typeface="Calibri"/>
                          <a:ea typeface="InterFace" charset="0"/>
                          <a:cs typeface="InterFace" charset="0"/>
                        </a:endParaRPr>
                      </a:p>
                    </a:txBody>
                    <a:tcPr marL="0" marR="0" marT="0" marB="0">
                      <a:lnL w="9525" cap="flat" cmpd="sng" algn="ctr">
                        <a:solidFill>
                          <a:srgbClr val="9E9E9E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9E9E9E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9E9E9E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9E9E9E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r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sz="800" b="0" i="0" err="1">
                            <a:solidFill>
                              <a:schemeClr val="dk1"/>
                            </a:solidFill>
                            <a:latin typeface="Calibri"/>
                            <a:ea typeface="InterFace" charset="0"/>
                            <a:cs typeface="InterFace" charset="0"/>
                            <a:sym typeface="Roboto Light"/>
                          </a:rPr>
                          <a:t>e_nation</a:t>
                        </a:r>
                        <a:endParaRPr sz="800" b="0" i="0">
                          <a:latin typeface="Calibri"/>
                          <a:ea typeface="InterFace" charset="0"/>
                          <a:cs typeface="InterFace" charset="0"/>
                        </a:endParaRPr>
                      </a:p>
                    </a:txBody>
                    <a:tcPr marL="0" marR="0" marT="0" marB="0">
                      <a:lnL w="9525" cap="flat" cmpd="sng">
                        <a:solidFill>
                          <a:srgbClr val="9E9E9E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9E9E9E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9E9E9E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9E9E9E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sp>
          <p:nvSpPr>
            <p:cNvPr id="4" name="Google Shape;123;p14">
              <a:extLst>
                <a:ext uri="{FF2B5EF4-FFF2-40B4-BE49-F238E27FC236}">
                  <a16:creationId xmlns:a16="http://schemas.microsoft.com/office/drawing/2014/main" id="{0FE3922D-F574-F610-E994-37A9FEA38C49}"/>
                </a:ext>
              </a:extLst>
            </p:cNvPr>
            <p:cNvSpPr/>
            <p:nvPr/>
          </p:nvSpPr>
          <p:spPr>
            <a:xfrm>
              <a:off x="7244061" y="4558347"/>
              <a:ext cx="208026" cy="177716"/>
            </a:xfrm>
            <a:custGeom>
              <a:avLst/>
              <a:gdLst/>
              <a:ahLst/>
              <a:cxnLst/>
              <a:rect l="l" t="t" r="r" b="b"/>
              <a:pathLst>
                <a:path w="231140" h="197462" extrusionOk="0">
                  <a:moveTo>
                    <a:pt x="99592" y="1"/>
                  </a:moveTo>
                  <a:cubicBezTo>
                    <a:pt x="48768" y="1"/>
                    <a:pt x="0" y="39359"/>
                    <a:pt x="0" y="99037"/>
                  </a:cubicBezTo>
                  <a:cubicBezTo>
                    <a:pt x="0" y="153647"/>
                    <a:pt x="44450" y="197462"/>
                    <a:pt x="99060" y="197462"/>
                  </a:cubicBezTo>
                  <a:cubicBezTo>
                    <a:pt x="186690" y="197462"/>
                    <a:pt x="231140" y="91417"/>
                    <a:pt x="168910" y="29187"/>
                  </a:cubicBezTo>
                  <a:cubicBezTo>
                    <a:pt x="148755" y="9032"/>
                    <a:pt x="123938" y="1"/>
                    <a:pt x="99592" y="1"/>
                  </a:cubicBezTo>
                  <a:close/>
                </a:path>
              </a:pathLst>
            </a:custGeom>
            <a:solidFill>
              <a:srgbClr val="3C3C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" name="Google Shape;125;p14">
              <a:extLst>
                <a:ext uri="{FF2B5EF4-FFF2-40B4-BE49-F238E27FC236}">
                  <a16:creationId xmlns:a16="http://schemas.microsoft.com/office/drawing/2014/main" id="{3B2272F8-B174-BAA8-1E4E-C4DBCBFAF16D}"/>
                </a:ext>
              </a:extLst>
            </p:cNvPr>
            <p:cNvGrpSpPr/>
            <p:nvPr/>
          </p:nvGrpSpPr>
          <p:grpSpPr>
            <a:xfrm>
              <a:off x="8206933" y="4556126"/>
              <a:ext cx="213227" cy="182159"/>
              <a:chOff x="1190625" y="238700"/>
              <a:chExt cx="5778500" cy="4936550"/>
            </a:xfrm>
          </p:grpSpPr>
          <p:sp>
            <p:nvSpPr>
              <p:cNvPr id="9" name="Google Shape;126;p14">
                <a:extLst>
                  <a:ext uri="{FF2B5EF4-FFF2-40B4-BE49-F238E27FC236}">
                    <a16:creationId xmlns:a16="http://schemas.microsoft.com/office/drawing/2014/main" id="{1AFE5830-924D-747B-1CC2-E228AC06918B}"/>
                  </a:ext>
                </a:extLst>
              </p:cNvPr>
              <p:cNvSpPr/>
              <p:nvPr/>
            </p:nvSpPr>
            <p:spPr>
              <a:xfrm>
                <a:off x="1190625" y="238700"/>
                <a:ext cx="5778500" cy="4936550"/>
              </a:xfrm>
              <a:custGeom>
                <a:avLst/>
                <a:gdLst/>
                <a:ahLst/>
                <a:cxnLst/>
                <a:rect l="l" t="t" r="r" b="b"/>
                <a:pathLst>
                  <a:path w="231140" h="197462" extrusionOk="0">
                    <a:moveTo>
                      <a:pt x="99592" y="1"/>
                    </a:moveTo>
                    <a:cubicBezTo>
                      <a:pt x="48768" y="1"/>
                      <a:pt x="0" y="39359"/>
                      <a:pt x="0" y="99037"/>
                    </a:cubicBezTo>
                    <a:cubicBezTo>
                      <a:pt x="0" y="153647"/>
                      <a:pt x="44450" y="197462"/>
                      <a:pt x="99060" y="197462"/>
                    </a:cubicBezTo>
                    <a:cubicBezTo>
                      <a:pt x="186690" y="197462"/>
                      <a:pt x="231140" y="91417"/>
                      <a:pt x="168910" y="29187"/>
                    </a:cubicBezTo>
                    <a:cubicBezTo>
                      <a:pt x="148755" y="9032"/>
                      <a:pt x="123938" y="1"/>
                      <a:pt x="99592" y="1"/>
                    </a:cubicBezTo>
                    <a:close/>
                  </a:path>
                </a:pathLst>
              </a:custGeom>
              <a:solidFill>
                <a:srgbClr val="3C3C3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127;p14">
                <a:extLst>
                  <a:ext uri="{FF2B5EF4-FFF2-40B4-BE49-F238E27FC236}">
                    <a16:creationId xmlns:a16="http://schemas.microsoft.com/office/drawing/2014/main" id="{24B59507-E694-34FC-0073-CB9A51E31885}"/>
                  </a:ext>
                </a:extLst>
              </p:cNvPr>
              <p:cNvSpPr/>
              <p:nvPr/>
            </p:nvSpPr>
            <p:spPr>
              <a:xfrm>
                <a:off x="2428875" y="1476375"/>
                <a:ext cx="2476500" cy="2476500"/>
              </a:xfrm>
              <a:custGeom>
                <a:avLst/>
                <a:gdLst/>
                <a:ahLst/>
                <a:cxnLst/>
                <a:rect l="l" t="t" r="r" b="b"/>
                <a:pathLst>
                  <a:path w="99060" h="99060" extrusionOk="0">
                    <a:moveTo>
                      <a:pt x="87630" y="11430"/>
                    </a:moveTo>
                    <a:lnTo>
                      <a:pt x="87630" y="27940"/>
                    </a:lnTo>
                    <a:lnTo>
                      <a:pt x="70485" y="27940"/>
                    </a:lnTo>
                    <a:lnTo>
                      <a:pt x="70485" y="11430"/>
                    </a:lnTo>
                    <a:close/>
                    <a:moveTo>
                      <a:pt x="49530" y="31750"/>
                    </a:moveTo>
                    <a:cubicBezTo>
                      <a:pt x="54610" y="31750"/>
                      <a:pt x="60325" y="34290"/>
                      <a:pt x="63500" y="39370"/>
                    </a:cubicBezTo>
                    <a:cubicBezTo>
                      <a:pt x="71755" y="50800"/>
                      <a:pt x="63500" y="66675"/>
                      <a:pt x="49530" y="66675"/>
                    </a:cubicBezTo>
                    <a:cubicBezTo>
                      <a:pt x="34925" y="66675"/>
                      <a:pt x="26670" y="50800"/>
                      <a:pt x="35560" y="39370"/>
                    </a:cubicBezTo>
                    <a:cubicBezTo>
                      <a:pt x="38735" y="34290"/>
                      <a:pt x="43815" y="31750"/>
                      <a:pt x="49530" y="31750"/>
                    </a:cubicBezTo>
                    <a:close/>
                    <a:moveTo>
                      <a:pt x="88900" y="39370"/>
                    </a:moveTo>
                    <a:lnTo>
                      <a:pt x="88900" y="79375"/>
                    </a:lnTo>
                    <a:cubicBezTo>
                      <a:pt x="88900" y="85090"/>
                      <a:pt x="85090" y="88900"/>
                      <a:pt x="79375" y="88900"/>
                    </a:cubicBezTo>
                    <a:lnTo>
                      <a:pt x="19050" y="88900"/>
                    </a:lnTo>
                    <a:cubicBezTo>
                      <a:pt x="13970" y="88900"/>
                      <a:pt x="9525" y="85090"/>
                      <a:pt x="9525" y="79375"/>
                    </a:cubicBezTo>
                    <a:lnTo>
                      <a:pt x="9525" y="39370"/>
                    </a:lnTo>
                    <a:lnTo>
                      <a:pt x="24130" y="39370"/>
                    </a:lnTo>
                    <a:cubicBezTo>
                      <a:pt x="22860" y="42545"/>
                      <a:pt x="22225" y="45720"/>
                      <a:pt x="22225" y="49530"/>
                    </a:cubicBezTo>
                    <a:cubicBezTo>
                      <a:pt x="23178" y="66358"/>
                      <a:pt x="36195" y="74771"/>
                      <a:pt x="49213" y="74771"/>
                    </a:cubicBezTo>
                    <a:cubicBezTo>
                      <a:pt x="62230" y="74771"/>
                      <a:pt x="75248" y="66358"/>
                      <a:pt x="76200" y="49530"/>
                    </a:cubicBezTo>
                    <a:cubicBezTo>
                      <a:pt x="76200" y="45720"/>
                      <a:pt x="75565" y="42545"/>
                      <a:pt x="74295" y="39370"/>
                    </a:cubicBezTo>
                    <a:close/>
                    <a:moveTo>
                      <a:pt x="19050" y="0"/>
                    </a:moveTo>
                    <a:cubicBezTo>
                      <a:pt x="8255" y="0"/>
                      <a:pt x="0" y="8255"/>
                      <a:pt x="0" y="19050"/>
                    </a:cubicBezTo>
                    <a:lnTo>
                      <a:pt x="0" y="79375"/>
                    </a:lnTo>
                    <a:cubicBezTo>
                      <a:pt x="0" y="90170"/>
                      <a:pt x="8255" y="98425"/>
                      <a:pt x="19050" y="99060"/>
                    </a:cubicBezTo>
                    <a:lnTo>
                      <a:pt x="79375" y="99060"/>
                    </a:lnTo>
                    <a:cubicBezTo>
                      <a:pt x="90170" y="99060"/>
                      <a:pt x="99060" y="90170"/>
                      <a:pt x="99060" y="79375"/>
                    </a:cubicBezTo>
                    <a:lnTo>
                      <a:pt x="99060" y="19050"/>
                    </a:lnTo>
                    <a:cubicBezTo>
                      <a:pt x="99060" y="8255"/>
                      <a:pt x="90170" y="0"/>
                      <a:pt x="7937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" name="Google Shape;128;p14">
              <a:extLst>
                <a:ext uri="{FF2B5EF4-FFF2-40B4-BE49-F238E27FC236}">
                  <a16:creationId xmlns:a16="http://schemas.microsoft.com/office/drawing/2014/main" id="{DB19A0EA-11B6-E5B8-D943-AC83B4F08D21}"/>
                </a:ext>
              </a:extLst>
            </p:cNvPr>
            <p:cNvGrpSpPr/>
            <p:nvPr/>
          </p:nvGrpSpPr>
          <p:grpSpPr>
            <a:xfrm>
              <a:off x="5943148" y="4559087"/>
              <a:ext cx="206292" cy="176235"/>
              <a:chOff x="1190625" y="238700"/>
              <a:chExt cx="5778500" cy="4936550"/>
            </a:xfrm>
          </p:grpSpPr>
          <p:sp>
            <p:nvSpPr>
              <p:cNvPr id="7" name="Google Shape;129;p14">
                <a:extLst>
                  <a:ext uri="{FF2B5EF4-FFF2-40B4-BE49-F238E27FC236}">
                    <a16:creationId xmlns:a16="http://schemas.microsoft.com/office/drawing/2014/main" id="{3949A7BD-6BAA-3D32-A6D5-9D29CB16C4E5}"/>
                  </a:ext>
                </a:extLst>
              </p:cNvPr>
              <p:cNvSpPr/>
              <p:nvPr/>
            </p:nvSpPr>
            <p:spPr>
              <a:xfrm>
                <a:off x="1190625" y="238700"/>
                <a:ext cx="5778500" cy="4936550"/>
              </a:xfrm>
              <a:custGeom>
                <a:avLst/>
                <a:gdLst/>
                <a:ahLst/>
                <a:cxnLst/>
                <a:rect l="l" t="t" r="r" b="b"/>
                <a:pathLst>
                  <a:path w="231140" h="197462" extrusionOk="0">
                    <a:moveTo>
                      <a:pt x="99592" y="1"/>
                    </a:moveTo>
                    <a:cubicBezTo>
                      <a:pt x="48768" y="1"/>
                      <a:pt x="0" y="39359"/>
                      <a:pt x="0" y="99037"/>
                    </a:cubicBezTo>
                    <a:cubicBezTo>
                      <a:pt x="0" y="153647"/>
                      <a:pt x="44450" y="197462"/>
                      <a:pt x="99060" y="197462"/>
                    </a:cubicBezTo>
                    <a:cubicBezTo>
                      <a:pt x="186690" y="197462"/>
                      <a:pt x="231140" y="91417"/>
                      <a:pt x="168910" y="29187"/>
                    </a:cubicBezTo>
                    <a:cubicBezTo>
                      <a:pt x="148755" y="9032"/>
                      <a:pt x="123938" y="1"/>
                      <a:pt x="99592" y="1"/>
                    </a:cubicBezTo>
                    <a:close/>
                  </a:path>
                </a:pathLst>
              </a:custGeom>
              <a:solidFill>
                <a:srgbClr val="3C3C3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" name="Google Shape;130;p14">
                <a:extLst>
                  <a:ext uri="{FF2B5EF4-FFF2-40B4-BE49-F238E27FC236}">
                    <a16:creationId xmlns:a16="http://schemas.microsoft.com/office/drawing/2014/main" id="{375CFB38-0904-7DB2-0461-8D3038290BFD}"/>
                  </a:ext>
                </a:extLst>
              </p:cNvPr>
              <p:cNvSpPr/>
              <p:nvPr/>
            </p:nvSpPr>
            <p:spPr>
              <a:xfrm>
                <a:off x="3063875" y="1470400"/>
                <a:ext cx="1190625" cy="248247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9299" extrusionOk="0">
                    <a:moveTo>
                      <a:pt x="33963" y="1"/>
                    </a:moveTo>
                    <a:cubicBezTo>
                      <a:pt x="32385" y="1"/>
                      <a:pt x="30798" y="80"/>
                      <a:pt x="29210" y="239"/>
                    </a:cubicBezTo>
                    <a:cubicBezTo>
                      <a:pt x="28723" y="185"/>
                      <a:pt x="28232" y="158"/>
                      <a:pt x="27738" y="158"/>
                    </a:cubicBezTo>
                    <a:cubicBezTo>
                      <a:pt x="22432" y="158"/>
                      <a:pt x="16821" y="3212"/>
                      <a:pt x="13335" y="7859"/>
                    </a:cubicBezTo>
                    <a:cubicBezTo>
                      <a:pt x="10795" y="12304"/>
                      <a:pt x="9525" y="17384"/>
                      <a:pt x="10160" y="23099"/>
                    </a:cubicBezTo>
                    <a:lnTo>
                      <a:pt x="10160" y="32624"/>
                    </a:lnTo>
                    <a:lnTo>
                      <a:pt x="0" y="32624"/>
                    </a:lnTo>
                    <a:lnTo>
                      <a:pt x="0" y="47864"/>
                    </a:lnTo>
                    <a:lnTo>
                      <a:pt x="10160" y="47864"/>
                    </a:lnTo>
                    <a:lnTo>
                      <a:pt x="10160" y="99299"/>
                    </a:lnTo>
                    <a:lnTo>
                      <a:pt x="29210" y="99299"/>
                    </a:lnTo>
                    <a:lnTo>
                      <a:pt x="29210" y="47864"/>
                    </a:lnTo>
                    <a:lnTo>
                      <a:pt x="44450" y="47864"/>
                    </a:lnTo>
                    <a:lnTo>
                      <a:pt x="45720" y="32624"/>
                    </a:lnTo>
                    <a:lnTo>
                      <a:pt x="29845" y="32624"/>
                    </a:lnTo>
                    <a:lnTo>
                      <a:pt x="29845" y="21194"/>
                    </a:lnTo>
                    <a:cubicBezTo>
                      <a:pt x="29845" y="17384"/>
                      <a:pt x="33020" y="16114"/>
                      <a:pt x="37465" y="16114"/>
                    </a:cubicBezTo>
                    <a:cubicBezTo>
                      <a:pt x="40005" y="16114"/>
                      <a:pt x="42545" y="16114"/>
                      <a:pt x="45085" y="17384"/>
                    </a:cubicBezTo>
                    <a:lnTo>
                      <a:pt x="47625" y="2144"/>
                    </a:lnTo>
                    <a:cubicBezTo>
                      <a:pt x="43339" y="715"/>
                      <a:pt x="38695" y="1"/>
                      <a:pt x="3396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13" name="Picture 12" descr="A white x on a black background&#10;&#10;Description automatically generated">
            <a:extLst>
              <a:ext uri="{FF2B5EF4-FFF2-40B4-BE49-F238E27FC236}">
                <a16:creationId xmlns:a16="http://schemas.microsoft.com/office/drawing/2014/main" id="{19ACAB9D-25A1-4F2A-76D9-4C80AB62656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14950" y="4507200"/>
            <a:ext cx="192600" cy="2106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9631A25-95A3-9898-5160-23D298C6529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13547" y="281103"/>
            <a:ext cx="1510062" cy="724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853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9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93;p16">
            <a:extLst>
              <a:ext uri="{FF2B5EF4-FFF2-40B4-BE49-F238E27FC236}">
                <a16:creationId xmlns:a16="http://schemas.microsoft.com/office/drawing/2014/main" id="{86764CE6-BA73-DF44-B8DD-CB311D33273F}"/>
              </a:ext>
            </a:extLst>
          </p:cNvPr>
          <p:cNvSpPr/>
          <p:nvPr/>
        </p:nvSpPr>
        <p:spPr>
          <a:xfrm>
            <a:off x="3029579" y="-332014"/>
            <a:ext cx="992384" cy="977583"/>
          </a:xfrm>
          <a:custGeom>
            <a:avLst/>
            <a:gdLst/>
            <a:ahLst/>
            <a:cxnLst/>
            <a:rect l="l" t="t" r="r" b="b"/>
            <a:pathLst>
              <a:path w="211258" h="208107" extrusionOk="0">
                <a:moveTo>
                  <a:pt x="196318" y="0"/>
                </a:moveTo>
                <a:cubicBezTo>
                  <a:pt x="193981" y="0"/>
                  <a:pt x="191409" y="380"/>
                  <a:pt x="188647" y="1160"/>
                </a:cubicBezTo>
                <a:lnTo>
                  <a:pt x="16809" y="47234"/>
                </a:lnTo>
                <a:cubicBezTo>
                  <a:pt x="12714" y="48172"/>
                  <a:pt x="8959" y="50135"/>
                  <a:pt x="5888" y="52950"/>
                </a:cubicBezTo>
                <a:cubicBezTo>
                  <a:pt x="1" y="58838"/>
                  <a:pt x="1280" y="67114"/>
                  <a:pt x="9301" y="75134"/>
                </a:cubicBezTo>
                <a:lnTo>
                  <a:pt x="135150" y="200984"/>
                </a:lnTo>
                <a:cubicBezTo>
                  <a:pt x="139859" y="205692"/>
                  <a:pt x="144685" y="208107"/>
                  <a:pt x="149059" y="208107"/>
                </a:cubicBezTo>
                <a:cubicBezTo>
                  <a:pt x="152136" y="208107"/>
                  <a:pt x="154988" y="206913"/>
                  <a:pt x="157419" y="204482"/>
                </a:cubicBezTo>
                <a:cubicBezTo>
                  <a:pt x="160235" y="201325"/>
                  <a:pt x="162197" y="197571"/>
                  <a:pt x="163136" y="193475"/>
                </a:cubicBezTo>
                <a:lnTo>
                  <a:pt x="209124" y="21637"/>
                </a:lnTo>
                <a:cubicBezTo>
                  <a:pt x="211257" y="13958"/>
                  <a:pt x="210319" y="7474"/>
                  <a:pt x="206564" y="3720"/>
                </a:cubicBezTo>
                <a:cubicBezTo>
                  <a:pt x="204131" y="1287"/>
                  <a:pt x="200623" y="0"/>
                  <a:pt x="196318" y="0"/>
                </a:cubicBezTo>
                <a:close/>
              </a:path>
            </a:pathLst>
          </a:custGeom>
          <a:solidFill>
            <a:srgbClr val="E1722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1" name="Graphic 70">
            <a:extLst>
              <a:ext uri="{FF2B5EF4-FFF2-40B4-BE49-F238E27FC236}">
                <a16:creationId xmlns:a16="http://schemas.microsoft.com/office/drawing/2014/main" id="{71715E0D-8D16-2441-8852-5E2062D9BB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21963" y="4448294"/>
            <a:ext cx="1047120" cy="1047120"/>
          </a:xfrm>
          <a:prstGeom prst="rect">
            <a:avLst/>
          </a:prstGeom>
        </p:spPr>
      </p:pic>
      <p:grpSp>
        <p:nvGrpSpPr>
          <p:cNvPr id="102" name="Group 101">
            <a:extLst>
              <a:ext uri="{FF2B5EF4-FFF2-40B4-BE49-F238E27FC236}">
                <a16:creationId xmlns:a16="http://schemas.microsoft.com/office/drawing/2014/main" id="{11F13DD1-1417-EC4A-A2FB-B1E01743A145}"/>
              </a:ext>
            </a:extLst>
          </p:cNvPr>
          <p:cNvGrpSpPr/>
          <p:nvPr/>
        </p:nvGrpSpPr>
        <p:grpSpPr>
          <a:xfrm>
            <a:off x="475044" y="460701"/>
            <a:ext cx="1512647" cy="704867"/>
            <a:chOff x="3880193" y="2387600"/>
            <a:chExt cx="1752600" cy="816681"/>
          </a:xfrm>
        </p:grpSpPr>
        <p:pic>
          <p:nvPicPr>
            <p:cNvPr id="103" name="Graphic 102">
              <a:extLst>
                <a:ext uri="{FF2B5EF4-FFF2-40B4-BE49-F238E27FC236}">
                  <a16:creationId xmlns:a16="http://schemas.microsoft.com/office/drawing/2014/main" id="{33E6C2BB-7A66-CD44-8845-8EE706D90D8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886200" y="2387600"/>
              <a:ext cx="1371600" cy="368300"/>
            </a:xfrm>
            <a:prstGeom prst="rect">
              <a:avLst/>
            </a:prstGeom>
          </p:spPr>
        </p:pic>
        <p:pic>
          <p:nvPicPr>
            <p:cNvPr id="104" name="Graphic 103">
              <a:extLst>
                <a:ext uri="{FF2B5EF4-FFF2-40B4-BE49-F238E27FC236}">
                  <a16:creationId xmlns:a16="http://schemas.microsoft.com/office/drawing/2014/main" id="{DBE093A9-8142-434F-8732-6BA6A6CA511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880193" y="2835981"/>
              <a:ext cx="1752600" cy="368300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D128DBE-72CF-FA5E-EA71-136F854987AF}"/>
              </a:ext>
            </a:extLst>
          </p:cNvPr>
          <p:cNvSpPr txBox="1"/>
          <p:nvPr/>
        </p:nvSpPr>
        <p:spPr>
          <a:xfrm>
            <a:off x="351625" y="1479356"/>
            <a:ext cx="3540090" cy="196977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t>The old way</a:t>
            </a:r>
          </a:p>
          <a:p/>
          <a:p>
            <a:r>
              <a:t>Export CSVs and stitch them in Excel</a:t>
            </a:r>
          </a:p>
          <a:p>
            <a:r>
              <a:t>Wait for someone who knows SQL</a:t>
            </a:r>
          </a:p>
          <a:p>
            <a:r>
              <a:t>Static dashboards that answer yesterday’s question</a:t>
            </a:r>
          </a:p>
          <a:p>
            <a:r>
              <a:t>Decisions delayed until someone has time to dig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6CEBCFF-747D-C99B-0793-D4F681C6B45B}"/>
              </a:ext>
            </a:extLst>
          </p:cNvPr>
          <p:cNvSpPr txBox="1"/>
          <p:nvPr/>
        </p:nvSpPr>
        <p:spPr>
          <a:xfrm>
            <a:off x="4505661" y="1479355"/>
            <a:ext cx="3540090" cy="196977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t>With AI-assisted reporting</a:t>
            </a:r>
          </a:p>
          <a:p/>
          <a:p>
            <a:r>
              <a:t>Ask in plain English: “Which products sold best last quarter?”</a:t>
            </a:r>
          </a:p>
          <a:p>
            <a:r>
              <a:t>Charts and KPIs in minutes, not days</a:t>
            </a:r>
          </a:p>
          <a:p>
            <a:r>
              <a:t>Narrative summaries you can paste into emails or board packs</a:t>
            </a:r>
          </a:p>
          <a:p>
            <a:r>
              <a:t>You stay in control — AI speeds the analysis, you own the decision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DF98176-FCED-D7E6-0A30-4558DD1B26AB}"/>
              </a:ext>
            </a:extLst>
          </p:cNvPr>
          <p:cNvGrpSpPr/>
          <p:nvPr/>
        </p:nvGrpSpPr>
        <p:grpSpPr>
          <a:xfrm>
            <a:off x="5823929" y="4523565"/>
            <a:ext cx="2892015" cy="344520"/>
            <a:chOff x="5943148" y="4556126"/>
            <a:chExt cx="2892015" cy="344520"/>
          </a:xfrm>
        </p:grpSpPr>
        <p:graphicFrame>
          <p:nvGraphicFramePr>
            <p:cNvPr id="4" name="Google Shape;121;p14">
              <a:extLst>
                <a:ext uri="{FF2B5EF4-FFF2-40B4-BE49-F238E27FC236}">
                  <a16:creationId xmlns:a16="http://schemas.microsoft.com/office/drawing/2014/main" id="{B7C030AB-1559-92D9-9E34-7AF0D644A498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757182530"/>
                </p:ext>
              </p:extLst>
            </p:nvPr>
          </p:nvGraphicFramePr>
          <p:xfrm>
            <a:off x="5958739" y="4576260"/>
            <a:ext cx="2876424" cy="324386"/>
          </p:xfrm>
          <a:graphic>
            <a:graphicData uri="http://schemas.openxmlformats.org/drawingml/2006/table">
              <a:tbl>
                <a:tblPr>
                  <a:noFill/>
                  <a:tableStyleId>{54C569FC-BCFD-4877-A475-6FB1CBB6E6DA}</a:tableStyleId>
                </a:tblPr>
                <a:tblGrid>
                  <a:gridCol w="966882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954771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954771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</a:tblGrid>
                <a:tr h="324386">
                  <a:tc>
                    <a:txBody>
                      <a:bodyPr/>
                      <a:lstStyle/>
                      <a:p>
                        <a:pPr marL="0" lvl="0" indent="0" algn="r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GB" sz="800" b="0" i="0">
                            <a:solidFill>
                              <a:schemeClr val="dk1"/>
                            </a:solidFill>
                            <a:latin typeface="Calibri"/>
                            <a:ea typeface="InterFace" charset="0"/>
                            <a:cs typeface="InterFace" charset="0"/>
                          </a:rPr>
                          <a:t> </a:t>
                        </a:r>
                        <a:r>
                          <a:rPr lang="en" sz="800" b="0" i="0">
                            <a:solidFill>
                              <a:schemeClr val="dk1"/>
                            </a:solidFill>
                            <a:latin typeface="Calibri"/>
                            <a:ea typeface="InterFace" charset="0"/>
                            <a:cs typeface="InterFace" charset="0"/>
                            <a:sym typeface="Roboto Light"/>
                          </a:rPr>
                          <a:t>Enterprise Nation</a:t>
                        </a:r>
                        <a:endParaRPr sz="800" b="0" i="0">
                          <a:latin typeface="Calibri"/>
                          <a:ea typeface="InterFace" charset="0"/>
                          <a:cs typeface="InterFace" charset="0"/>
                        </a:endParaRPr>
                      </a:p>
                    </a:txBody>
                    <a:tcPr marL="0" marR="0" marT="0" marB="0">
                      <a:lnL w="9525" cap="flat" cmpd="sng">
                        <a:solidFill>
                          <a:srgbClr val="9E9E9E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rgbClr val="9E9E9E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9E9E9E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rgbClr val="9E9E9E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r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sz="800" b="0" i="0">
                            <a:solidFill>
                              <a:schemeClr val="dk1"/>
                            </a:solidFill>
                            <a:latin typeface="Calibri"/>
                            <a:ea typeface="InterFace" charset="0"/>
                            <a:cs typeface="InterFace" charset="0"/>
                          </a:rPr>
                          <a:t>            </a:t>
                        </a:r>
                        <a:r>
                          <a:rPr lang="en" sz="800" b="0" i="0">
                            <a:solidFill>
                              <a:schemeClr val="dk1"/>
                            </a:solidFill>
                            <a:latin typeface="Calibri"/>
                            <a:ea typeface="InterFace" charset="0"/>
                            <a:cs typeface="InterFace" charset="0"/>
                            <a:sym typeface="Roboto Light"/>
                          </a:rPr>
                          <a:t> </a:t>
                        </a:r>
                        <a:r>
                          <a:rPr lang="en" sz="800" b="0" i="0" err="1">
                            <a:solidFill>
                              <a:schemeClr val="dk1"/>
                            </a:solidFill>
                            <a:latin typeface="Calibri"/>
                            <a:ea typeface="InterFace" charset="0"/>
                            <a:cs typeface="InterFace" charset="0"/>
                            <a:sym typeface="Roboto Light"/>
                          </a:rPr>
                          <a:t>e_nation</a:t>
                        </a:r>
                        <a:endParaRPr sz="800" b="0" i="0">
                          <a:latin typeface="Calibri"/>
                          <a:ea typeface="InterFace" charset="0"/>
                          <a:cs typeface="InterFace" charset="0"/>
                        </a:endParaRPr>
                      </a:p>
                    </a:txBody>
                    <a:tcPr marL="0" marR="0" marT="0" marB="0">
                      <a:lnL w="9525" cap="flat" cmpd="sng" algn="ctr">
                        <a:solidFill>
                          <a:srgbClr val="9E9E9E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9E9E9E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9E9E9E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9E9E9E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r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sz="800" b="0" i="0" err="1">
                            <a:solidFill>
                              <a:schemeClr val="dk1"/>
                            </a:solidFill>
                            <a:latin typeface="Calibri"/>
                            <a:ea typeface="InterFace" charset="0"/>
                            <a:cs typeface="InterFace" charset="0"/>
                            <a:sym typeface="Roboto Light"/>
                          </a:rPr>
                          <a:t>e_nation</a:t>
                        </a:r>
                        <a:endParaRPr sz="800" b="0" i="0">
                          <a:latin typeface="Calibri"/>
                          <a:ea typeface="InterFace" charset="0"/>
                          <a:cs typeface="InterFace" charset="0"/>
                        </a:endParaRPr>
                      </a:p>
                    </a:txBody>
                    <a:tcPr marL="0" marR="0" marT="0" marB="0">
                      <a:lnL w="9525" cap="flat" cmpd="sng">
                        <a:solidFill>
                          <a:srgbClr val="9E9E9E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9E9E9E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9E9E9E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9E9E9E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sp>
          <p:nvSpPr>
            <p:cNvPr id="5" name="Google Shape;123;p14">
              <a:extLst>
                <a:ext uri="{FF2B5EF4-FFF2-40B4-BE49-F238E27FC236}">
                  <a16:creationId xmlns:a16="http://schemas.microsoft.com/office/drawing/2014/main" id="{D255CE14-85B0-8939-CB4F-080193178257}"/>
                </a:ext>
              </a:extLst>
            </p:cNvPr>
            <p:cNvSpPr/>
            <p:nvPr/>
          </p:nvSpPr>
          <p:spPr>
            <a:xfrm>
              <a:off x="7244061" y="4558347"/>
              <a:ext cx="208026" cy="177716"/>
            </a:xfrm>
            <a:custGeom>
              <a:avLst/>
              <a:gdLst/>
              <a:ahLst/>
              <a:cxnLst/>
              <a:rect l="l" t="t" r="r" b="b"/>
              <a:pathLst>
                <a:path w="231140" h="197462" extrusionOk="0">
                  <a:moveTo>
                    <a:pt x="99592" y="1"/>
                  </a:moveTo>
                  <a:cubicBezTo>
                    <a:pt x="48768" y="1"/>
                    <a:pt x="0" y="39359"/>
                    <a:pt x="0" y="99037"/>
                  </a:cubicBezTo>
                  <a:cubicBezTo>
                    <a:pt x="0" y="153647"/>
                    <a:pt x="44450" y="197462"/>
                    <a:pt x="99060" y="197462"/>
                  </a:cubicBezTo>
                  <a:cubicBezTo>
                    <a:pt x="186690" y="197462"/>
                    <a:pt x="231140" y="91417"/>
                    <a:pt x="168910" y="29187"/>
                  </a:cubicBezTo>
                  <a:cubicBezTo>
                    <a:pt x="148755" y="9032"/>
                    <a:pt x="123938" y="1"/>
                    <a:pt x="99592" y="1"/>
                  </a:cubicBezTo>
                  <a:close/>
                </a:path>
              </a:pathLst>
            </a:custGeom>
            <a:solidFill>
              <a:srgbClr val="3C3C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" name="Google Shape;125;p14">
              <a:extLst>
                <a:ext uri="{FF2B5EF4-FFF2-40B4-BE49-F238E27FC236}">
                  <a16:creationId xmlns:a16="http://schemas.microsoft.com/office/drawing/2014/main" id="{EF7E4F29-1EBE-FCB7-0B12-F32B8E2A4CB1}"/>
                </a:ext>
              </a:extLst>
            </p:cNvPr>
            <p:cNvGrpSpPr/>
            <p:nvPr/>
          </p:nvGrpSpPr>
          <p:grpSpPr>
            <a:xfrm>
              <a:off x="8206933" y="4556126"/>
              <a:ext cx="213227" cy="182159"/>
              <a:chOff x="1190625" y="238700"/>
              <a:chExt cx="5778500" cy="4936550"/>
            </a:xfrm>
          </p:grpSpPr>
          <p:sp>
            <p:nvSpPr>
              <p:cNvPr id="10" name="Google Shape;126;p14">
                <a:extLst>
                  <a:ext uri="{FF2B5EF4-FFF2-40B4-BE49-F238E27FC236}">
                    <a16:creationId xmlns:a16="http://schemas.microsoft.com/office/drawing/2014/main" id="{1544C1FD-E8B5-F6CD-364D-EA1E17ACDD94}"/>
                  </a:ext>
                </a:extLst>
              </p:cNvPr>
              <p:cNvSpPr/>
              <p:nvPr/>
            </p:nvSpPr>
            <p:spPr>
              <a:xfrm>
                <a:off x="1190625" y="238700"/>
                <a:ext cx="5778500" cy="4936550"/>
              </a:xfrm>
              <a:custGeom>
                <a:avLst/>
                <a:gdLst/>
                <a:ahLst/>
                <a:cxnLst/>
                <a:rect l="l" t="t" r="r" b="b"/>
                <a:pathLst>
                  <a:path w="231140" h="197462" extrusionOk="0">
                    <a:moveTo>
                      <a:pt x="99592" y="1"/>
                    </a:moveTo>
                    <a:cubicBezTo>
                      <a:pt x="48768" y="1"/>
                      <a:pt x="0" y="39359"/>
                      <a:pt x="0" y="99037"/>
                    </a:cubicBezTo>
                    <a:cubicBezTo>
                      <a:pt x="0" y="153647"/>
                      <a:pt x="44450" y="197462"/>
                      <a:pt x="99060" y="197462"/>
                    </a:cubicBezTo>
                    <a:cubicBezTo>
                      <a:pt x="186690" y="197462"/>
                      <a:pt x="231140" y="91417"/>
                      <a:pt x="168910" y="29187"/>
                    </a:cubicBezTo>
                    <a:cubicBezTo>
                      <a:pt x="148755" y="9032"/>
                      <a:pt x="123938" y="1"/>
                      <a:pt x="99592" y="1"/>
                    </a:cubicBezTo>
                    <a:close/>
                  </a:path>
                </a:pathLst>
              </a:custGeom>
              <a:solidFill>
                <a:srgbClr val="3C3C3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127;p14">
                <a:extLst>
                  <a:ext uri="{FF2B5EF4-FFF2-40B4-BE49-F238E27FC236}">
                    <a16:creationId xmlns:a16="http://schemas.microsoft.com/office/drawing/2014/main" id="{9E234EBE-6D3B-2FC5-0BB8-E718C324A2D3}"/>
                  </a:ext>
                </a:extLst>
              </p:cNvPr>
              <p:cNvSpPr/>
              <p:nvPr/>
            </p:nvSpPr>
            <p:spPr>
              <a:xfrm>
                <a:off x="2428875" y="1476375"/>
                <a:ext cx="2476500" cy="2476500"/>
              </a:xfrm>
              <a:custGeom>
                <a:avLst/>
                <a:gdLst/>
                <a:ahLst/>
                <a:cxnLst/>
                <a:rect l="l" t="t" r="r" b="b"/>
                <a:pathLst>
                  <a:path w="99060" h="99060" extrusionOk="0">
                    <a:moveTo>
                      <a:pt x="87630" y="11430"/>
                    </a:moveTo>
                    <a:lnTo>
                      <a:pt x="87630" y="27940"/>
                    </a:lnTo>
                    <a:lnTo>
                      <a:pt x="70485" y="27940"/>
                    </a:lnTo>
                    <a:lnTo>
                      <a:pt x="70485" y="11430"/>
                    </a:lnTo>
                    <a:close/>
                    <a:moveTo>
                      <a:pt x="49530" y="31750"/>
                    </a:moveTo>
                    <a:cubicBezTo>
                      <a:pt x="54610" y="31750"/>
                      <a:pt x="60325" y="34290"/>
                      <a:pt x="63500" y="39370"/>
                    </a:cubicBezTo>
                    <a:cubicBezTo>
                      <a:pt x="71755" y="50800"/>
                      <a:pt x="63500" y="66675"/>
                      <a:pt x="49530" y="66675"/>
                    </a:cubicBezTo>
                    <a:cubicBezTo>
                      <a:pt x="34925" y="66675"/>
                      <a:pt x="26670" y="50800"/>
                      <a:pt x="35560" y="39370"/>
                    </a:cubicBezTo>
                    <a:cubicBezTo>
                      <a:pt x="38735" y="34290"/>
                      <a:pt x="43815" y="31750"/>
                      <a:pt x="49530" y="31750"/>
                    </a:cubicBezTo>
                    <a:close/>
                    <a:moveTo>
                      <a:pt x="88900" y="39370"/>
                    </a:moveTo>
                    <a:lnTo>
                      <a:pt x="88900" y="79375"/>
                    </a:lnTo>
                    <a:cubicBezTo>
                      <a:pt x="88900" y="85090"/>
                      <a:pt x="85090" y="88900"/>
                      <a:pt x="79375" y="88900"/>
                    </a:cubicBezTo>
                    <a:lnTo>
                      <a:pt x="19050" y="88900"/>
                    </a:lnTo>
                    <a:cubicBezTo>
                      <a:pt x="13970" y="88900"/>
                      <a:pt x="9525" y="85090"/>
                      <a:pt x="9525" y="79375"/>
                    </a:cubicBezTo>
                    <a:lnTo>
                      <a:pt x="9525" y="39370"/>
                    </a:lnTo>
                    <a:lnTo>
                      <a:pt x="24130" y="39370"/>
                    </a:lnTo>
                    <a:cubicBezTo>
                      <a:pt x="22860" y="42545"/>
                      <a:pt x="22225" y="45720"/>
                      <a:pt x="22225" y="49530"/>
                    </a:cubicBezTo>
                    <a:cubicBezTo>
                      <a:pt x="23178" y="66358"/>
                      <a:pt x="36195" y="74771"/>
                      <a:pt x="49213" y="74771"/>
                    </a:cubicBezTo>
                    <a:cubicBezTo>
                      <a:pt x="62230" y="74771"/>
                      <a:pt x="75248" y="66358"/>
                      <a:pt x="76200" y="49530"/>
                    </a:cubicBezTo>
                    <a:cubicBezTo>
                      <a:pt x="76200" y="45720"/>
                      <a:pt x="75565" y="42545"/>
                      <a:pt x="74295" y="39370"/>
                    </a:cubicBezTo>
                    <a:close/>
                    <a:moveTo>
                      <a:pt x="19050" y="0"/>
                    </a:moveTo>
                    <a:cubicBezTo>
                      <a:pt x="8255" y="0"/>
                      <a:pt x="0" y="8255"/>
                      <a:pt x="0" y="19050"/>
                    </a:cubicBezTo>
                    <a:lnTo>
                      <a:pt x="0" y="79375"/>
                    </a:lnTo>
                    <a:cubicBezTo>
                      <a:pt x="0" y="90170"/>
                      <a:pt x="8255" y="98425"/>
                      <a:pt x="19050" y="99060"/>
                    </a:cubicBezTo>
                    <a:lnTo>
                      <a:pt x="79375" y="99060"/>
                    </a:lnTo>
                    <a:cubicBezTo>
                      <a:pt x="90170" y="99060"/>
                      <a:pt x="99060" y="90170"/>
                      <a:pt x="99060" y="79375"/>
                    </a:cubicBezTo>
                    <a:lnTo>
                      <a:pt x="99060" y="19050"/>
                    </a:lnTo>
                    <a:cubicBezTo>
                      <a:pt x="99060" y="8255"/>
                      <a:pt x="90170" y="0"/>
                      <a:pt x="7937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" name="Google Shape;128;p14">
              <a:extLst>
                <a:ext uri="{FF2B5EF4-FFF2-40B4-BE49-F238E27FC236}">
                  <a16:creationId xmlns:a16="http://schemas.microsoft.com/office/drawing/2014/main" id="{6E9C0EC4-E206-ADCE-541E-D98046A752E4}"/>
                </a:ext>
              </a:extLst>
            </p:cNvPr>
            <p:cNvGrpSpPr/>
            <p:nvPr/>
          </p:nvGrpSpPr>
          <p:grpSpPr>
            <a:xfrm>
              <a:off x="5943148" y="4559087"/>
              <a:ext cx="206292" cy="176235"/>
              <a:chOff x="1190625" y="238700"/>
              <a:chExt cx="5778500" cy="4936550"/>
            </a:xfrm>
          </p:grpSpPr>
          <p:sp>
            <p:nvSpPr>
              <p:cNvPr id="8" name="Google Shape;129;p14">
                <a:extLst>
                  <a:ext uri="{FF2B5EF4-FFF2-40B4-BE49-F238E27FC236}">
                    <a16:creationId xmlns:a16="http://schemas.microsoft.com/office/drawing/2014/main" id="{E86820BD-F634-4BF4-B60F-7C86A76E7D2B}"/>
                  </a:ext>
                </a:extLst>
              </p:cNvPr>
              <p:cNvSpPr/>
              <p:nvPr/>
            </p:nvSpPr>
            <p:spPr>
              <a:xfrm>
                <a:off x="1190625" y="238700"/>
                <a:ext cx="5778500" cy="4936550"/>
              </a:xfrm>
              <a:custGeom>
                <a:avLst/>
                <a:gdLst/>
                <a:ahLst/>
                <a:cxnLst/>
                <a:rect l="l" t="t" r="r" b="b"/>
                <a:pathLst>
                  <a:path w="231140" h="197462" extrusionOk="0">
                    <a:moveTo>
                      <a:pt x="99592" y="1"/>
                    </a:moveTo>
                    <a:cubicBezTo>
                      <a:pt x="48768" y="1"/>
                      <a:pt x="0" y="39359"/>
                      <a:pt x="0" y="99037"/>
                    </a:cubicBezTo>
                    <a:cubicBezTo>
                      <a:pt x="0" y="153647"/>
                      <a:pt x="44450" y="197462"/>
                      <a:pt x="99060" y="197462"/>
                    </a:cubicBezTo>
                    <a:cubicBezTo>
                      <a:pt x="186690" y="197462"/>
                      <a:pt x="231140" y="91417"/>
                      <a:pt x="168910" y="29187"/>
                    </a:cubicBezTo>
                    <a:cubicBezTo>
                      <a:pt x="148755" y="9032"/>
                      <a:pt x="123938" y="1"/>
                      <a:pt x="99592" y="1"/>
                    </a:cubicBezTo>
                    <a:close/>
                  </a:path>
                </a:pathLst>
              </a:custGeom>
              <a:solidFill>
                <a:srgbClr val="3C3C3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130;p14">
                <a:extLst>
                  <a:ext uri="{FF2B5EF4-FFF2-40B4-BE49-F238E27FC236}">
                    <a16:creationId xmlns:a16="http://schemas.microsoft.com/office/drawing/2014/main" id="{CA98E1C6-8A05-80D2-3BF7-2153BDED180D}"/>
                  </a:ext>
                </a:extLst>
              </p:cNvPr>
              <p:cNvSpPr/>
              <p:nvPr/>
            </p:nvSpPr>
            <p:spPr>
              <a:xfrm>
                <a:off x="3063875" y="1470400"/>
                <a:ext cx="1190625" cy="248247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9299" extrusionOk="0">
                    <a:moveTo>
                      <a:pt x="33963" y="1"/>
                    </a:moveTo>
                    <a:cubicBezTo>
                      <a:pt x="32385" y="1"/>
                      <a:pt x="30798" y="80"/>
                      <a:pt x="29210" y="239"/>
                    </a:cubicBezTo>
                    <a:cubicBezTo>
                      <a:pt x="28723" y="185"/>
                      <a:pt x="28232" y="158"/>
                      <a:pt x="27738" y="158"/>
                    </a:cubicBezTo>
                    <a:cubicBezTo>
                      <a:pt x="22432" y="158"/>
                      <a:pt x="16821" y="3212"/>
                      <a:pt x="13335" y="7859"/>
                    </a:cubicBezTo>
                    <a:cubicBezTo>
                      <a:pt x="10795" y="12304"/>
                      <a:pt x="9525" y="17384"/>
                      <a:pt x="10160" y="23099"/>
                    </a:cubicBezTo>
                    <a:lnTo>
                      <a:pt x="10160" y="32624"/>
                    </a:lnTo>
                    <a:lnTo>
                      <a:pt x="0" y="32624"/>
                    </a:lnTo>
                    <a:lnTo>
                      <a:pt x="0" y="47864"/>
                    </a:lnTo>
                    <a:lnTo>
                      <a:pt x="10160" y="47864"/>
                    </a:lnTo>
                    <a:lnTo>
                      <a:pt x="10160" y="99299"/>
                    </a:lnTo>
                    <a:lnTo>
                      <a:pt x="29210" y="99299"/>
                    </a:lnTo>
                    <a:lnTo>
                      <a:pt x="29210" y="47864"/>
                    </a:lnTo>
                    <a:lnTo>
                      <a:pt x="44450" y="47864"/>
                    </a:lnTo>
                    <a:lnTo>
                      <a:pt x="45720" y="32624"/>
                    </a:lnTo>
                    <a:lnTo>
                      <a:pt x="29845" y="32624"/>
                    </a:lnTo>
                    <a:lnTo>
                      <a:pt x="29845" y="21194"/>
                    </a:lnTo>
                    <a:cubicBezTo>
                      <a:pt x="29845" y="17384"/>
                      <a:pt x="33020" y="16114"/>
                      <a:pt x="37465" y="16114"/>
                    </a:cubicBezTo>
                    <a:cubicBezTo>
                      <a:pt x="40005" y="16114"/>
                      <a:pt x="42545" y="16114"/>
                      <a:pt x="45085" y="17384"/>
                    </a:cubicBezTo>
                    <a:lnTo>
                      <a:pt x="47625" y="2144"/>
                    </a:lnTo>
                    <a:cubicBezTo>
                      <a:pt x="43339" y="715"/>
                      <a:pt x="38695" y="1"/>
                      <a:pt x="3396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14" name="Picture 13" descr="A white x on a black background&#10;&#10;Description automatically generated">
            <a:extLst>
              <a:ext uri="{FF2B5EF4-FFF2-40B4-BE49-F238E27FC236}">
                <a16:creationId xmlns:a16="http://schemas.microsoft.com/office/drawing/2014/main" id="{5EF8DF8D-875D-0D2E-F06C-FE0A7FCD024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14950" y="4507200"/>
            <a:ext cx="192600" cy="2106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1E0807E-606D-FE20-8BEB-1F4D2E32329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13547" y="281103"/>
            <a:ext cx="1510062" cy="724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361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9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93;p16">
            <a:extLst>
              <a:ext uri="{FF2B5EF4-FFF2-40B4-BE49-F238E27FC236}">
                <a16:creationId xmlns:a16="http://schemas.microsoft.com/office/drawing/2014/main" id="{86764CE6-BA73-DF44-B8DD-CB311D33273F}"/>
              </a:ext>
            </a:extLst>
          </p:cNvPr>
          <p:cNvSpPr/>
          <p:nvPr/>
        </p:nvSpPr>
        <p:spPr>
          <a:xfrm>
            <a:off x="3029579" y="-332014"/>
            <a:ext cx="992384" cy="977583"/>
          </a:xfrm>
          <a:custGeom>
            <a:avLst/>
            <a:gdLst/>
            <a:ahLst/>
            <a:cxnLst/>
            <a:rect l="l" t="t" r="r" b="b"/>
            <a:pathLst>
              <a:path w="211258" h="208107" extrusionOk="0">
                <a:moveTo>
                  <a:pt x="196318" y="0"/>
                </a:moveTo>
                <a:cubicBezTo>
                  <a:pt x="193981" y="0"/>
                  <a:pt x="191409" y="380"/>
                  <a:pt x="188647" y="1160"/>
                </a:cubicBezTo>
                <a:lnTo>
                  <a:pt x="16809" y="47234"/>
                </a:lnTo>
                <a:cubicBezTo>
                  <a:pt x="12714" y="48172"/>
                  <a:pt x="8959" y="50135"/>
                  <a:pt x="5888" y="52950"/>
                </a:cubicBezTo>
                <a:cubicBezTo>
                  <a:pt x="1" y="58838"/>
                  <a:pt x="1280" y="67114"/>
                  <a:pt x="9301" y="75134"/>
                </a:cubicBezTo>
                <a:lnTo>
                  <a:pt x="135150" y="200984"/>
                </a:lnTo>
                <a:cubicBezTo>
                  <a:pt x="139859" y="205692"/>
                  <a:pt x="144685" y="208107"/>
                  <a:pt x="149059" y="208107"/>
                </a:cubicBezTo>
                <a:cubicBezTo>
                  <a:pt x="152136" y="208107"/>
                  <a:pt x="154988" y="206913"/>
                  <a:pt x="157419" y="204482"/>
                </a:cubicBezTo>
                <a:cubicBezTo>
                  <a:pt x="160235" y="201325"/>
                  <a:pt x="162197" y="197571"/>
                  <a:pt x="163136" y="193475"/>
                </a:cubicBezTo>
                <a:lnTo>
                  <a:pt x="209124" y="21637"/>
                </a:lnTo>
                <a:cubicBezTo>
                  <a:pt x="211257" y="13958"/>
                  <a:pt x="210319" y="7474"/>
                  <a:pt x="206564" y="3720"/>
                </a:cubicBezTo>
                <a:cubicBezTo>
                  <a:pt x="204131" y="1287"/>
                  <a:pt x="200623" y="0"/>
                  <a:pt x="196318" y="0"/>
                </a:cubicBezTo>
                <a:close/>
              </a:path>
            </a:pathLst>
          </a:custGeom>
          <a:solidFill>
            <a:srgbClr val="E1722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1" name="Graphic 70">
            <a:extLst>
              <a:ext uri="{FF2B5EF4-FFF2-40B4-BE49-F238E27FC236}">
                <a16:creationId xmlns:a16="http://schemas.microsoft.com/office/drawing/2014/main" id="{71715E0D-8D16-2441-8852-5E2062D9BB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21963" y="4448294"/>
            <a:ext cx="1047120" cy="1047120"/>
          </a:xfrm>
          <a:prstGeom prst="rect">
            <a:avLst/>
          </a:prstGeom>
        </p:spPr>
      </p:pic>
      <p:grpSp>
        <p:nvGrpSpPr>
          <p:cNvPr id="102" name="Group 101">
            <a:extLst>
              <a:ext uri="{FF2B5EF4-FFF2-40B4-BE49-F238E27FC236}">
                <a16:creationId xmlns:a16="http://schemas.microsoft.com/office/drawing/2014/main" id="{11F13DD1-1417-EC4A-A2FB-B1E01743A145}"/>
              </a:ext>
            </a:extLst>
          </p:cNvPr>
          <p:cNvGrpSpPr/>
          <p:nvPr/>
        </p:nvGrpSpPr>
        <p:grpSpPr>
          <a:xfrm>
            <a:off x="475044" y="460701"/>
            <a:ext cx="1512647" cy="704867"/>
            <a:chOff x="3880193" y="2387600"/>
            <a:chExt cx="1752600" cy="816681"/>
          </a:xfrm>
        </p:grpSpPr>
        <p:pic>
          <p:nvPicPr>
            <p:cNvPr id="103" name="Graphic 102">
              <a:extLst>
                <a:ext uri="{FF2B5EF4-FFF2-40B4-BE49-F238E27FC236}">
                  <a16:creationId xmlns:a16="http://schemas.microsoft.com/office/drawing/2014/main" id="{33E6C2BB-7A66-CD44-8845-8EE706D90D8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886200" y="2387600"/>
              <a:ext cx="1371600" cy="368300"/>
            </a:xfrm>
            <a:prstGeom prst="rect">
              <a:avLst/>
            </a:prstGeom>
          </p:spPr>
        </p:pic>
        <p:pic>
          <p:nvPicPr>
            <p:cNvPr id="104" name="Graphic 103">
              <a:extLst>
                <a:ext uri="{FF2B5EF4-FFF2-40B4-BE49-F238E27FC236}">
                  <a16:creationId xmlns:a16="http://schemas.microsoft.com/office/drawing/2014/main" id="{DBE093A9-8142-434F-8732-6BA6A6CA511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880193" y="2835981"/>
              <a:ext cx="1752600" cy="368300"/>
            </a:xfrm>
            <a:prstGeom prst="rect">
              <a:avLst/>
            </a:prstGeom>
          </p:spPr>
        </p:pic>
      </p:grpSp>
      <p:sp>
        <p:nvSpPr>
          <p:cNvPr id="24" name="Google Shape;479;p23">
            <a:extLst>
              <a:ext uri="{FF2B5EF4-FFF2-40B4-BE49-F238E27FC236}">
                <a16:creationId xmlns:a16="http://schemas.microsoft.com/office/drawing/2014/main" id="{91B16709-C045-78D7-3EAA-3954DDDB6F43}"/>
              </a:ext>
            </a:extLst>
          </p:cNvPr>
          <p:cNvSpPr txBox="1">
            <a:spLocks noGrp="1"/>
          </p:cNvSpPr>
          <p:nvPr/>
        </p:nvSpPr>
        <p:spPr>
          <a:xfrm>
            <a:off x="457200" y="1445800"/>
            <a:ext cx="2569200" cy="1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t>1. Start with one trusted dataset</a:t>
            </a:r>
          </a:p>
          <a:p/>
          <a:p>
            <a:r>
              <a:t>Pick a single source you already reconcile — sales export, CRM, or accounts. Clean column names once; reuse them every week.</a:t>
            </a:r>
          </a:p>
        </p:txBody>
      </p:sp>
      <p:sp>
        <p:nvSpPr>
          <p:cNvPr id="25" name="Google Shape;480;p23">
            <a:extLst>
              <a:ext uri="{FF2B5EF4-FFF2-40B4-BE49-F238E27FC236}">
                <a16:creationId xmlns:a16="http://schemas.microsoft.com/office/drawing/2014/main" id="{B18A1B8E-7220-CD24-7E9B-EB73FF07F353}"/>
              </a:ext>
            </a:extLst>
          </p:cNvPr>
          <p:cNvSpPr txBox="1">
            <a:spLocks noGrp="1"/>
          </p:cNvSpPr>
          <p:nvPr/>
        </p:nvSpPr>
        <p:spPr>
          <a:xfrm>
            <a:off x="3285075" y="1445800"/>
            <a:ext cx="2569200" cy="1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t>2. Build a simple dashboard</a:t>
            </a:r>
          </a:p>
          <a:p/>
          <a:p>
            <a:r>
              <a:t>Five to seven metrics you’d check every Monday: revenue, margin, leads, conversion, cash. No need for a perfect data warehouse on day one.</a:t>
            </a:r>
          </a:p>
        </p:txBody>
      </p:sp>
      <p:sp>
        <p:nvSpPr>
          <p:cNvPr id="26" name="Google Shape;481;p23">
            <a:extLst>
              <a:ext uri="{FF2B5EF4-FFF2-40B4-BE49-F238E27FC236}">
                <a16:creationId xmlns:a16="http://schemas.microsoft.com/office/drawing/2014/main" id="{93E3881B-02D0-8A59-F3A1-56C7915AC91F}"/>
              </a:ext>
            </a:extLst>
          </p:cNvPr>
          <p:cNvSpPr txBox="1">
            <a:spLocks noGrp="1"/>
          </p:cNvSpPr>
          <p:nvPr/>
        </p:nvSpPr>
        <p:spPr>
          <a:xfrm>
            <a:off x="6112950" y="1445800"/>
            <a:ext cx="2569200" cy="23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t>3. Ask questions safely</a:t>
            </a:r>
          </a:p>
          <a:p/>
          <a:p>
            <a:r>
              <a:t>Use AI on aggregated, non-sensitive data first. Always spot-check numbers against the source. Keep a human in the loop before anything goes to customers or regulators.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9D6B684-9CFA-323C-CC29-230F302FD7B4}"/>
              </a:ext>
            </a:extLst>
          </p:cNvPr>
          <p:cNvGrpSpPr/>
          <p:nvPr/>
        </p:nvGrpSpPr>
        <p:grpSpPr>
          <a:xfrm>
            <a:off x="5823929" y="4523565"/>
            <a:ext cx="2892015" cy="344520"/>
            <a:chOff x="5943148" y="4556126"/>
            <a:chExt cx="2892015" cy="344520"/>
          </a:xfrm>
        </p:grpSpPr>
        <p:graphicFrame>
          <p:nvGraphicFramePr>
            <p:cNvPr id="3" name="Google Shape;121;p14">
              <a:extLst>
                <a:ext uri="{FF2B5EF4-FFF2-40B4-BE49-F238E27FC236}">
                  <a16:creationId xmlns:a16="http://schemas.microsoft.com/office/drawing/2014/main" id="{D109CA2F-1C98-8865-46A7-BD81F1D671E3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756920206"/>
                </p:ext>
              </p:extLst>
            </p:nvPr>
          </p:nvGraphicFramePr>
          <p:xfrm>
            <a:off x="5958739" y="4576260"/>
            <a:ext cx="2876424" cy="324386"/>
          </p:xfrm>
          <a:graphic>
            <a:graphicData uri="http://schemas.openxmlformats.org/drawingml/2006/table">
              <a:tbl>
                <a:tblPr>
                  <a:noFill/>
                  <a:tableStyleId>{54C569FC-BCFD-4877-A475-6FB1CBB6E6DA}</a:tableStyleId>
                </a:tblPr>
                <a:tblGrid>
                  <a:gridCol w="966882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954771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954771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</a:tblGrid>
                <a:tr h="324386">
                  <a:tc>
                    <a:txBody>
                      <a:bodyPr/>
                      <a:lstStyle/>
                      <a:p>
                        <a:pPr marL="0" lvl="0" indent="0" algn="r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GB" sz="800" b="0" i="0">
                            <a:solidFill>
                              <a:schemeClr val="dk1"/>
                            </a:solidFill>
                            <a:latin typeface="Calibri"/>
                            <a:ea typeface="InterFace" charset="0"/>
                            <a:cs typeface="InterFace" charset="0"/>
                          </a:rPr>
                          <a:t> </a:t>
                        </a:r>
                        <a:r>
                          <a:rPr lang="en" sz="800" b="0" i="0">
                            <a:solidFill>
                              <a:schemeClr val="dk1"/>
                            </a:solidFill>
                            <a:latin typeface="Calibri"/>
                            <a:ea typeface="InterFace" charset="0"/>
                            <a:cs typeface="InterFace" charset="0"/>
                            <a:sym typeface="Roboto Light"/>
                          </a:rPr>
                          <a:t>Enterprise Nation</a:t>
                        </a:r>
                        <a:endParaRPr sz="800" b="0" i="0">
                          <a:latin typeface="Calibri"/>
                          <a:ea typeface="InterFace" charset="0"/>
                          <a:cs typeface="InterFace" charset="0"/>
                        </a:endParaRPr>
                      </a:p>
                    </a:txBody>
                    <a:tcPr marL="0" marR="0" marT="0" marB="0">
                      <a:lnL w="9525" cap="flat" cmpd="sng">
                        <a:solidFill>
                          <a:srgbClr val="9E9E9E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rgbClr val="9E9E9E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9E9E9E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rgbClr val="9E9E9E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r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sz="800" b="0" i="0">
                            <a:solidFill>
                              <a:schemeClr val="dk1"/>
                            </a:solidFill>
                            <a:latin typeface="Calibri"/>
                            <a:ea typeface="InterFace" charset="0"/>
                            <a:cs typeface="InterFace" charset="0"/>
                          </a:rPr>
                          <a:t>            </a:t>
                        </a:r>
                        <a:r>
                          <a:rPr lang="en" sz="800" b="0" i="0">
                            <a:solidFill>
                              <a:schemeClr val="dk1"/>
                            </a:solidFill>
                            <a:latin typeface="Calibri"/>
                            <a:ea typeface="InterFace" charset="0"/>
                            <a:cs typeface="InterFace" charset="0"/>
                            <a:sym typeface="Roboto Light"/>
                          </a:rPr>
                          <a:t> </a:t>
                        </a:r>
                        <a:r>
                          <a:rPr lang="en" sz="800" b="0" i="0" err="1">
                            <a:solidFill>
                              <a:schemeClr val="dk1"/>
                            </a:solidFill>
                            <a:latin typeface="Calibri"/>
                            <a:ea typeface="InterFace" charset="0"/>
                            <a:cs typeface="InterFace" charset="0"/>
                            <a:sym typeface="Roboto Light"/>
                          </a:rPr>
                          <a:t>e_nation</a:t>
                        </a:r>
                        <a:endParaRPr sz="800" b="0" i="0">
                          <a:latin typeface="Calibri"/>
                          <a:ea typeface="InterFace" charset="0"/>
                          <a:cs typeface="InterFace" charset="0"/>
                        </a:endParaRPr>
                      </a:p>
                    </a:txBody>
                    <a:tcPr marL="0" marR="0" marT="0" marB="0">
                      <a:lnL w="9525" cap="flat" cmpd="sng" algn="ctr">
                        <a:solidFill>
                          <a:srgbClr val="9E9E9E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9E9E9E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9E9E9E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9E9E9E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r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sz="800" b="0" i="0" err="1">
                            <a:solidFill>
                              <a:schemeClr val="dk1"/>
                            </a:solidFill>
                            <a:latin typeface="Calibri"/>
                            <a:ea typeface="InterFace" charset="0"/>
                            <a:cs typeface="InterFace" charset="0"/>
                            <a:sym typeface="Roboto Light"/>
                          </a:rPr>
                          <a:t>e_nation</a:t>
                        </a:r>
                        <a:endParaRPr sz="800" b="0" i="0">
                          <a:latin typeface="Calibri"/>
                          <a:ea typeface="InterFace" charset="0"/>
                          <a:cs typeface="InterFace" charset="0"/>
                        </a:endParaRPr>
                      </a:p>
                    </a:txBody>
                    <a:tcPr marL="0" marR="0" marT="0" marB="0">
                      <a:lnL w="9525" cap="flat" cmpd="sng">
                        <a:solidFill>
                          <a:srgbClr val="9E9E9E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9E9E9E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9E9E9E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9E9E9E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sp>
          <p:nvSpPr>
            <p:cNvPr id="4" name="Google Shape;123;p14">
              <a:extLst>
                <a:ext uri="{FF2B5EF4-FFF2-40B4-BE49-F238E27FC236}">
                  <a16:creationId xmlns:a16="http://schemas.microsoft.com/office/drawing/2014/main" id="{512275C6-F41A-E8EF-3281-DE61EFCAFA3A}"/>
                </a:ext>
              </a:extLst>
            </p:cNvPr>
            <p:cNvSpPr/>
            <p:nvPr/>
          </p:nvSpPr>
          <p:spPr>
            <a:xfrm>
              <a:off x="7244061" y="4558347"/>
              <a:ext cx="208026" cy="177716"/>
            </a:xfrm>
            <a:custGeom>
              <a:avLst/>
              <a:gdLst/>
              <a:ahLst/>
              <a:cxnLst/>
              <a:rect l="l" t="t" r="r" b="b"/>
              <a:pathLst>
                <a:path w="231140" h="197462" extrusionOk="0">
                  <a:moveTo>
                    <a:pt x="99592" y="1"/>
                  </a:moveTo>
                  <a:cubicBezTo>
                    <a:pt x="48768" y="1"/>
                    <a:pt x="0" y="39359"/>
                    <a:pt x="0" y="99037"/>
                  </a:cubicBezTo>
                  <a:cubicBezTo>
                    <a:pt x="0" y="153647"/>
                    <a:pt x="44450" y="197462"/>
                    <a:pt x="99060" y="197462"/>
                  </a:cubicBezTo>
                  <a:cubicBezTo>
                    <a:pt x="186690" y="197462"/>
                    <a:pt x="231140" y="91417"/>
                    <a:pt x="168910" y="29187"/>
                  </a:cubicBezTo>
                  <a:cubicBezTo>
                    <a:pt x="148755" y="9032"/>
                    <a:pt x="123938" y="1"/>
                    <a:pt x="99592" y="1"/>
                  </a:cubicBezTo>
                  <a:close/>
                </a:path>
              </a:pathLst>
            </a:custGeom>
            <a:solidFill>
              <a:srgbClr val="3C3C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" name="Google Shape;125;p14">
              <a:extLst>
                <a:ext uri="{FF2B5EF4-FFF2-40B4-BE49-F238E27FC236}">
                  <a16:creationId xmlns:a16="http://schemas.microsoft.com/office/drawing/2014/main" id="{80D09A7F-E255-BEDB-C30F-E171D9783B4E}"/>
                </a:ext>
              </a:extLst>
            </p:cNvPr>
            <p:cNvGrpSpPr/>
            <p:nvPr/>
          </p:nvGrpSpPr>
          <p:grpSpPr>
            <a:xfrm>
              <a:off x="8206933" y="4556126"/>
              <a:ext cx="213227" cy="182159"/>
              <a:chOff x="1190625" y="238700"/>
              <a:chExt cx="5778500" cy="4936550"/>
            </a:xfrm>
          </p:grpSpPr>
          <p:sp>
            <p:nvSpPr>
              <p:cNvPr id="9" name="Google Shape;126;p14">
                <a:extLst>
                  <a:ext uri="{FF2B5EF4-FFF2-40B4-BE49-F238E27FC236}">
                    <a16:creationId xmlns:a16="http://schemas.microsoft.com/office/drawing/2014/main" id="{0C2126FC-4BBF-89EE-FB88-03781D37E74C}"/>
                  </a:ext>
                </a:extLst>
              </p:cNvPr>
              <p:cNvSpPr/>
              <p:nvPr/>
            </p:nvSpPr>
            <p:spPr>
              <a:xfrm>
                <a:off x="1190625" y="238700"/>
                <a:ext cx="5778500" cy="4936550"/>
              </a:xfrm>
              <a:custGeom>
                <a:avLst/>
                <a:gdLst/>
                <a:ahLst/>
                <a:cxnLst/>
                <a:rect l="l" t="t" r="r" b="b"/>
                <a:pathLst>
                  <a:path w="231140" h="197462" extrusionOk="0">
                    <a:moveTo>
                      <a:pt x="99592" y="1"/>
                    </a:moveTo>
                    <a:cubicBezTo>
                      <a:pt x="48768" y="1"/>
                      <a:pt x="0" y="39359"/>
                      <a:pt x="0" y="99037"/>
                    </a:cubicBezTo>
                    <a:cubicBezTo>
                      <a:pt x="0" y="153647"/>
                      <a:pt x="44450" y="197462"/>
                      <a:pt x="99060" y="197462"/>
                    </a:cubicBezTo>
                    <a:cubicBezTo>
                      <a:pt x="186690" y="197462"/>
                      <a:pt x="231140" y="91417"/>
                      <a:pt x="168910" y="29187"/>
                    </a:cubicBezTo>
                    <a:cubicBezTo>
                      <a:pt x="148755" y="9032"/>
                      <a:pt x="123938" y="1"/>
                      <a:pt x="99592" y="1"/>
                    </a:cubicBezTo>
                    <a:close/>
                  </a:path>
                </a:pathLst>
              </a:custGeom>
              <a:solidFill>
                <a:srgbClr val="3C3C3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127;p14">
                <a:extLst>
                  <a:ext uri="{FF2B5EF4-FFF2-40B4-BE49-F238E27FC236}">
                    <a16:creationId xmlns:a16="http://schemas.microsoft.com/office/drawing/2014/main" id="{0A705576-BDA8-A4F0-A499-9CB93A687E3E}"/>
                  </a:ext>
                </a:extLst>
              </p:cNvPr>
              <p:cNvSpPr/>
              <p:nvPr/>
            </p:nvSpPr>
            <p:spPr>
              <a:xfrm>
                <a:off x="2428875" y="1476375"/>
                <a:ext cx="2476500" cy="2476500"/>
              </a:xfrm>
              <a:custGeom>
                <a:avLst/>
                <a:gdLst/>
                <a:ahLst/>
                <a:cxnLst/>
                <a:rect l="l" t="t" r="r" b="b"/>
                <a:pathLst>
                  <a:path w="99060" h="99060" extrusionOk="0">
                    <a:moveTo>
                      <a:pt x="87630" y="11430"/>
                    </a:moveTo>
                    <a:lnTo>
                      <a:pt x="87630" y="27940"/>
                    </a:lnTo>
                    <a:lnTo>
                      <a:pt x="70485" y="27940"/>
                    </a:lnTo>
                    <a:lnTo>
                      <a:pt x="70485" y="11430"/>
                    </a:lnTo>
                    <a:close/>
                    <a:moveTo>
                      <a:pt x="49530" y="31750"/>
                    </a:moveTo>
                    <a:cubicBezTo>
                      <a:pt x="54610" y="31750"/>
                      <a:pt x="60325" y="34290"/>
                      <a:pt x="63500" y="39370"/>
                    </a:cubicBezTo>
                    <a:cubicBezTo>
                      <a:pt x="71755" y="50800"/>
                      <a:pt x="63500" y="66675"/>
                      <a:pt x="49530" y="66675"/>
                    </a:cubicBezTo>
                    <a:cubicBezTo>
                      <a:pt x="34925" y="66675"/>
                      <a:pt x="26670" y="50800"/>
                      <a:pt x="35560" y="39370"/>
                    </a:cubicBezTo>
                    <a:cubicBezTo>
                      <a:pt x="38735" y="34290"/>
                      <a:pt x="43815" y="31750"/>
                      <a:pt x="49530" y="31750"/>
                    </a:cubicBezTo>
                    <a:close/>
                    <a:moveTo>
                      <a:pt x="88900" y="39370"/>
                    </a:moveTo>
                    <a:lnTo>
                      <a:pt x="88900" y="79375"/>
                    </a:lnTo>
                    <a:cubicBezTo>
                      <a:pt x="88900" y="85090"/>
                      <a:pt x="85090" y="88900"/>
                      <a:pt x="79375" y="88900"/>
                    </a:cubicBezTo>
                    <a:lnTo>
                      <a:pt x="19050" y="88900"/>
                    </a:lnTo>
                    <a:cubicBezTo>
                      <a:pt x="13970" y="88900"/>
                      <a:pt x="9525" y="85090"/>
                      <a:pt x="9525" y="79375"/>
                    </a:cubicBezTo>
                    <a:lnTo>
                      <a:pt x="9525" y="39370"/>
                    </a:lnTo>
                    <a:lnTo>
                      <a:pt x="24130" y="39370"/>
                    </a:lnTo>
                    <a:cubicBezTo>
                      <a:pt x="22860" y="42545"/>
                      <a:pt x="22225" y="45720"/>
                      <a:pt x="22225" y="49530"/>
                    </a:cubicBezTo>
                    <a:cubicBezTo>
                      <a:pt x="23178" y="66358"/>
                      <a:pt x="36195" y="74771"/>
                      <a:pt x="49213" y="74771"/>
                    </a:cubicBezTo>
                    <a:cubicBezTo>
                      <a:pt x="62230" y="74771"/>
                      <a:pt x="75248" y="66358"/>
                      <a:pt x="76200" y="49530"/>
                    </a:cubicBezTo>
                    <a:cubicBezTo>
                      <a:pt x="76200" y="45720"/>
                      <a:pt x="75565" y="42545"/>
                      <a:pt x="74295" y="39370"/>
                    </a:cubicBezTo>
                    <a:close/>
                    <a:moveTo>
                      <a:pt x="19050" y="0"/>
                    </a:moveTo>
                    <a:cubicBezTo>
                      <a:pt x="8255" y="0"/>
                      <a:pt x="0" y="8255"/>
                      <a:pt x="0" y="19050"/>
                    </a:cubicBezTo>
                    <a:lnTo>
                      <a:pt x="0" y="79375"/>
                    </a:lnTo>
                    <a:cubicBezTo>
                      <a:pt x="0" y="90170"/>
                      <a:pt x="8255" y="98425"/>
                      <a:pt x="19050" y="99060"/>
                    </a:cubicBezTo>
                    <a:lnTo>
                      <a:pt x="79375" y="99060"/>
                    </a:lnTo>
                    <a:cubicBezTo>
                      <a:pt x="90170" y="99060"/>
                      <a:pt x="99060" y="90170"/>
                      <a:pt x="99060" y="79375"/>
                    </a:cubicBezTo>
                    <a:lnTo>
                      <a:pt x="99060" y="19050"/>
                    </a:lnTo>
                    <a:cubicBezTo>
                      <a:pt x="99060" y="8255"/>
                      <a:pt x="90170" y="0"/>
                      <a:pt x="7937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" name="Google Shape;128;p14">
              <a:extLst>
                <a:ext uri="{FF2B5EF4-FFF2-40B4-BE49-F238E27FC236}">
                  <a16:creationId xmlns:a16="http://schemas.microsoft.com/office/drawing/2014/main" id="{C7C04E7E-C851-0C20-F9AD-51748C8DAE74}"/>
                </a:ext>
              </a:extLst>
            </p:cNvPr>
            <p:cNvGrpSpPr/>
            <p:nvPr/>
          </p:nvGrpSpPr>
          <p:grpSpPr>
            <a:xfrm>
              <a:off x="5943148" y="4559087"/>
              <a:ext cx="206292" cy="176235"/>
              <a:chOff x="1190625" y="238700"/>
              <a:chExt cx="5778500" cy="4936550"/>
            </a:xfrm>
          </p:grpSpPr>
          <p:sp>
            <p:nvSpPr>
              <p:cNvPr id="7" name="Google Shape;129;p14">
                <a:extLst>
                  <a:ext uri="{FF2B5EF4-FFF2-40B4-BE49-F238E27FC236}">
                    <a16:creationId xmlns:a16="http://schemas.microsoft.com/office/drawing/2014/main" id="{D32AB7FD-22B7-A942-AA0C-590FDA53A425}"/>
                  </a:ext>
                </a:extLst>
              </p:cNvPr>
              <p:cNvSpPr/>
              <p:nvPr/>
            </p:nvSpPr>
            <p:spPr>
              <a:xfrm>
                <a:off x="1190625" y="238700"/>
                <a:ext cx="5778500" cy="4936550"/>
              </a:xfrm>
              <a:custGeom>
                <a:avLst/>
                <a:gdLst/>
                <a:ahLst/>
                <a:cxnLst/>
                <a:rect l="l" t="t" r="r" b="b"/>
                <a:pathLst>
                  <a:path w="231140" h="197462" extrusionOk="0">
                    <a:moveTo>
                      <a:pt x="99592" y="1"/>
                    </a:moveTo>
                    <a:cubicBezTo>
                      <a:pt x="48768" y="1"/>
                      <a:pt x="0" y="39359"/>
                      <a:pt x="0" y="99037"/>
                    </a:cubicBezTo>
                    <a:cubicBezTo>
                      <a:pt x="0" y="153647"/>
                      <a:pt x="44450" y="197462"/>
                      <a:pt x="99060" y="197462"/>
                    </a:cubicBezTo>
                    <a:cubicBezTo>
                      <a:pt x="186690" y="197462"/>
                      <a:pt x="231140" y="91417"/>
                      <a:pt x="168910" y="29187"/>
                    </a:cubicBezTo>
                    <a:cubicBezTo>
                      <a:pt x="148755" y="9032"/>
                      <a:pt x="123938" y="1"/>
                      <a:pt x="99592" y="1"/>
                    </a:cubicBezTo>
                    <a:close/>
                  </a:path>
                </a:pathLst>
              </a:custGeom>
              <a:solidFill>
                <a:srgbClr val="3C3C3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" name="Google Shape;130;p14">
                <a:extLst>
                  <a:ext uri="{FF2B5EF4-FFF2-40B4-BE49-F238E27FC236}">
                    <a16:creationId xmlns:a16="http://schemas.microsoft.com/office/drawing/2014/main" id="{825DD7A9-71B6-66C9-5AB8-B9DDCADB9843}"/>
                  </a:ext>
                </a:extLst>
              </p:cNvPr>
              <p:cNvSpPr/>
              <p:nvPr/>
            </p:nvSpPr>
            <p:spPr>
              <a:xfrm>
                <a:off x="3063875" y="1470400"/>
                <a:ext cx="1190625" cy="248247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9299" extrusionOk="0">
                    <a:moveTo>
                      <a:pt x="33963" y="1"/>
                    </a:moveTo>
                    <a:cubicBezTo>
                      <a:pt x="32385" y="1"/>
                      <a:pt x="30798" y="80"/>
                      <a:pt x="29210" y="239"/>
                    </a:cubicBezTo>
                    <a:cubicBezTo>
                      <a:pt x="28723" y="185"/>
                      <a:pt x="28232" y="158"/>
                      <a:pt x="27738" y="158"/>
                    </a:cubicBezTo>
                    <a:cubicBezTo>
                      <a:pt x="22432" y="158"/>
                      <a:pt x="16821" y="3212"/>
                      <a:pt x="13335" y="7859"/>
                    </a:cubicBezTo>
                    <a:cubicBezTo>
                      <a:pt x="10795" y="12304"/>
                      <a:pt x="9525" y="17384"/>
                      <a:pt x="10160" y="23099"/>
                    </a:cubicBezTo>
                    <a:lnTo>
                      <a:pt x="10160" y="32624"/>
                    </a:lnTo>
                    <a:lnTo>
                      <a:pt x="0" y="32624"/>
                    </a:lnTo>
                    <a:lnTo>
                      <a:pt x="0" y="47864"/>
                    </a:lnTo>
                    <a:lnTo>
                      <a:pt x="10160" y="47864"/>
                    </a:lnTo>
                    <a:lnTo>
                      <a:pt x="10160" y="99299"/>
                    </a:lnTo>
                    <a:lnTo>
                      <a:pt x="29210" y="99299"/>
                    </a:lnTo>
                    <a:lnTo>
                      <a:pt x="29210" y="47864"/>
                    </a:lnTo>
                    <a:lnTo>
                      <a:pt x="44450" y="47864"/>
                    </a:lnTo>
                    <a:lnTo>
                      <a:pt x="45720" y="32624"/>
                    </a:lnTo>
                    <a:lnTo>
                      <a:pt x="29845" y="32624"/>
                    </a:lnTo>
                    <a:lnTo>
                      <a:pt x="29845" y="21194"/>
                    </a:lnTo>
                    <a:cubicBezTo>
                      <a:pt x="29845" y="17384"/>
                      <a:pt x="33020" y="16114"/>
                      <a:pt x="37465" y="16114"/>
                    </a:cubicBezTo>
                    <a:cubicBezTo>
                      <a:pt x="40005" y="16114"/>
                      <a:pt x="42545" y="16114"/>
                      <a:pt x="45085" y="17384"/>
                    </a:cubicBezTo>
                    <a:lnTo>
                      <a:pt x="47625" y="2144"/>
                    </a:lnTo>
                    <a:cubicBezTo>
                      <a:pt x="43339" y="715"/>
                      <a:pt x="38695" y="1"/>
                      <a:pt x="3396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13" name="Picture 12" descr="A white x on a black background&#10;&#10;Description automatically generated">
            <a:extLst>
              <a:ext uri="{FF2B5EF4-FFF2-40B4-BE49-F238E27FC236}">
                <a16:creationId xmlns:a16="http://schemas.microsoft.com/office/drawing/2014/main" id="{515961B6-0A4F-30E8-28A4-CC27219936A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14950" y="4507200"/>
            <a:ext cx="192600" cy="2106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DEC56EA-1578-D879-3635-971F4FD4E5A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13547" y="281103"/>
            <a:ext cx="1510062" cy="724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856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9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95;p16">
            <a:extLst>
              <a:ext uri="{FF2B5EF4-FFF2-40B4-BE49-F238E27FC236}">
                <a16:creationId xmlns:a16="http://schemas.microsoft.com/office/drawing/2014/main" id="{6CB99B6D-5EE6-CE4F-8897-CC4F4CA586F6}"/>
              </a:ext>
            </a:extLst>
          </p:cNvPr>
          <p:cNvSpPr/>
          <p:nvPr/>
        </p:nvSpPr>
        <p:spPr>
          <a:xfrm>
            <a:off x="3584002" y="-226837"/>
            <a:ext cx="460542" cy="453673"/>
          </a:xfrm>
          <a:custGeom>
            <a:avLst/>
            <a:gdLst/>
            <a:ahLst/>
            <a:cxnLst/>
            <a:rect l="l" t="t" r="r" b="b"/>
            <a:pathLst>
              <a:path w="211258" h="208107" extrusionOk="0">
                <a:moveTo>
                  <a:pt x="196318" y="0"/>
                </a:moveTo>
                <a:cubicBezTo>
                  <a:pt x="193981" y="0"/>
                  <a:pt x="191409" y="380"/>
                  <a:pt x="188647" y="1160"/>
                </a:cubicBezTo>
                <a:lnTo>
                  <a:pt x="16809" y="47234"/>
                </a:lnTo>
                <a:cubicBezTo>
                  <a:pt x="12714" y="48172"/>
                  <a:pt x="8959" y="50135"/>
                  <a:pt x="5888" y="52950"/>
                </a:cubicBezTo>
                <a:cubicBezTo>
                  <a:pt x="1" y="58838"/>
                  <a:pt x="1280" y="67114"/>
                  <a:pt x="9301" y="75134"/>
                </a:cubicBezTo>
                <a:lnTo>
                  <a:pt x="135150" y="200984"/>
                </a:lnTo>
                <a:cubicBezTo>
                  <a:pt x="139859" y="205692"/>
                  <a:pt x="144685" y="208107"/>
                  <a:pt x="149059" y="208107"/>
                </a:cubicBezTo>
                <a:cubicBezTo>
                  <a:pt x="152136" y="208107"/>
                  <a:pt x="154988" y="206913"/>
                  <a:pt x="157419" y="204482"/>
                </a:cubicBezTo>
                <a:cubicBezTo>
                  <a:pt x="160235" y="201325"/>
                  <a:pt x="162197" y="197571"/>
                  <a:pt x="163136" y="193475"/>
                </a:cubicBezTo>
                <a:lnTo>
                  <a:pt x="209124" y="21637"/>
                </a:lnTo>
                <a:cubicBezTo>
                  <a:pt x="211257" y="13958"/>
                  <a:pt x="210319" y="7474"/>
                  <a:pt x="206564" y="3720"/>
                </a:cubicBezTo>
                <a:cubicBezTo>
                  <a:pt x="204131" y="1287"/>
                  <a:pt x="200623" y="0"/>
                  <a:pt x="196318" y="0"/>
                </a:cubicBezTo>
                <a:close/>
              </a:path>
            </a:pathLst>
          </a:custGeom>
          <a:solidFill>
            <a:srgbClr val="E1722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97;p14">
            <a:extLst>
              <a:ext uri="{FF2B5EF4-FFF2-40B4-BE49-F238E27FC236}">
                <a16:creationId xmlns:a16="http://schemas.microsoft.com/office/drawing/2014/main" id="{32DCB435-096A-1F41-8781-DC7A34C4ED9C}"/>
              </a:ext>
            </a:extLst>
          </p:cNvPr>
          <p:cNvSpPr txBox="1">
            <a:spLocks/>
          </p:cNvSpPr>
          <p:nvPr/>
        </p:nvSpPr>
        <p:spPr>
          <a:xfrm>
            <a:off x="457200" y="1214054"/>
            <a:ext cx="7313360" cy="2068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buClr>
                <a:schemeClr val="dk1"/>
              </a:buClr>
              <a:buSzPts val="1100"/>
            </a:pPr>
            <a:r>
              <a:rPr lang="en-GB" sz="3600" b="1">
                <a:solidFill>
                  <a:srgbClr val="434343"/>
                </a:solidFill>
                <a:latin typeface="Calibri"/>
                <a:ea typeface="InterFace Light" charset="0"/>
                <a:cs typeface="InterFace Light" charset="0"/>
                <a:sym typeface="Roboto Light"/>
              </a:rPr>
              <a:t>Thank you for taking part</a:t>
            </a:r>
            <a:endParaRPr lang="en-GB" sz="3600" b="1">
              <a:solidFill>
                <a:srgbClr val="434343"/>
              </a:solidFill>
              <a:latin typeface="Calibri"/>
              <a:ea typeface="InterFace Light" charset="0"/>
              <a:cs typeface="InterFace Light" charset="0"/>
            </a:endParaRPr>
          </a:p>
          <a:p>
            <a:pPr marL="0" indent="0" algn="l">
              <a:buClr>
                <a:schemeClr val="dk1"/>
              </a:buClr>
              <a:buSzPts val="1100"/>
            </a:pPr>
            <a:r>
              <a:rPr lang="en-GB" sz="3000">
                <a:solidFill>
                  <a:srgbClr val="434343"/>
                </a:solidFill>
                <a:latin typeface="Calibri Light"/>
                <a:ea typeface="InterFace Light" charset="0"/>
                <a:cs typeface="InterFace Light" charset="0"/>
                <a:sym typeface="Roboto Light"/>
              </a:rPr>
              <a:t>Take the next step and </a:t>
            </a:r>
            <a:r>
              <a:rPr lang="en-GB" sz="3000">
                <a:solidFill>
                  <a:srgbClr val="E1722F"/>
                </a:solidFill>
                <a:latin typeface="Calibri Light"/>
                <a:ea typeface="InterFace Light" charset="0"/>
                <a:cs typeface="InterFace Light" charset="0"/>
                <a:sym typeface="Roboto Light"/>
              </a:rPr>
              <a:t>connect with me</a:t>
            </a:r>
            <a:br>
              <a:rPr lang="en-GB" sz="3000">
                <a:latin typeface="Calibri Light"/>
                <a:ea typeface="InterFace Light" charset="0"/>
                <a:cs typeface="InterFace Light" charset="0"/>
              </a:rPr>
            </a:br>
            <a:r>
              <a:rPr lang="en-GB" sz="3000">
                <a:solidFill>
                  <a:srgbClr val="434343"/>
                </a:solidFill>
                <a:latin typeface="Calibri Light"/>
                <a:ea typeface="InterFace Light" charset="0"/>
                <a:cs typeface="InterFace Light" charset="0"/>
                <a:sym typeface="Roboto Light"/>
              </a:rPr>
              <a:t>on the Enterprise Nation platform.</a:t>
            </a:r>
            <a:endParaRPr lang="en-GB" sz="3000">
              <a:solidFill>
                <a:srgbClr val="434343"/>
              </a:solidFill>
              <a:latin typeface="Calibri Light"/>
              <a:ea typeface="InterFace Light" charset="0"/>
              <a:cs typeface="InterFace Light" charset="0"/>
            </a:endParaRPr>
          </a:p>
        </p:txBody>
      </p:sp>
      <p:sp>
        <p:nvSpPr>
          <p:cNvPr id="38" name="Google Shape;97;p14">
            <a:extLst>
              <a:ext uri="{FF2B5EF4-FFF2-40B4-BE49-F238E27FC236}">
                <a16:creationId xmlns:a16="http://schemas.microsoft.com/office/drawing/2014/main" id="{1296E9AF-720F-5D4C-829C-1725B768D332}"/>
              </a:ext>
            </a:extLst>
          </p:cNvPr>
          <p:cNvSpPr txBox="1">
            <a:spLocks/>
          </p:cNvSpPr>
          <p:nvPr/>
        </p:nvSpPr>
        <p:spPr>
          <a:xfrm>
            <a:off x="457200" y="3041241"/>
            <a:ext cx="4114800" cy="775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buClr>
                <a:schemeClr val="dk1"/>
              </a:buClr>
              <a:buSzPts val="1100"/>
            </a:pPr>
            <a:r>
              <a:rPr lang="en-GB" sz="2000" b="1">
                <a:solidFill>
                  <a:srgbClr val="434343"/>
                </a:solidFill>
                <a:latin typeface="Calibri"/>
                <a:ea typeface="InterFace Light" charset="0"/>
                <a:cs typeface="InterFace Light" charset="0"/>
                <a:sym typeface="Roboto Light"/>
              </a:rPr>
              <a:t>Join for free today</a:t>
            </a:r>
            <a:br>
              <a:rPr lang="en-GB" sz="2000" b="1">
                <a:latin typeface="Calibri"/>
                <a:ea typeface="InterFace Light" charset="0"/>
                <a:cs typeface="InterFace Light" charset="0"/>
              </a:rPr>
            </a:br>
            <a:r>
              <a:rPr lang="en-GB" sz="2000" b="1">
                <a:solidFill>
                  <a:srgbClr val="E1722F"/>
                </a:solidFill>
                <a:latin typeface="Calibri"/>
                <a:ea typeface="InterFace Light" charset="0"/>
                <a:cs typeface="InterFace Light" charset="0"/>
                <a:sym typeface="Roboto Light"/>
              </a:rPr>
              <a:t>enterprisenation.com/sign-up</a:t>
            </a:r>
            <a:endParaRPr lang="en-GB" sz="2000">
              <a:solidFill>
                <a:srgbClr val="E1722F"/>
              </a:solidFill>
              <a:latin typeface="Calibri"/>
              <a:ea typeface="InterFace Light" charset="0"/>
              <a:cs typeface="InterFace Light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D5D952-AF8C-5841-A378-F131F6A4B1EA}"/>
              </a:ext>
            </a:extLst>
          </p:cNvPr>
          <p:cNvSpPr txBox="1"/>
          <p:nvPr/>
        </p:nvSpPr>
        <p:spPr>
          <a:xfrm>
            <a:off x="473290" y="4366638"/>
            <a:ext cx="1866685" cy="5539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GB" sz="1200">
                <a:solidFill>
                  <a:srgbClr val="434343"/>
                </a:solidFill>
                <a:latin typeface="Calibri"/>
                <a:ea typeface="InterFace Light" charset="0"/>
                <a:cs typeface="InterFace Light" charset="0"/>
                <a:sym typeface="Roboto Light"/>
              </a:rPr>
              <a:t>Access free discovery calls with trusted advisors</a:t>
            </a:r>
            <a:endParaRPr lang="en-GB" sz="1200">
              <a:solidFill>
                <a:srgbClr val="434343"/>
              </a:solidFill>
              <a:latin typeface="Calibri"/>
              <a:ea typeface="InterFace Light" charset="0"/>
              <a:cs typeface="InterFace Light" charset="0"/>
            </a:endParaRPr>
          </a:p>
          <a:p>
            <a:endParaRPr lang="en-US" sz="1200">
              <a:latin typeface="Calibri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AA56FDD-2F68-E042-B258-A31864163880}"/>
              </a:ext>
            </a:extLst>
          </p:cNvPr>
          <p:cNvSpPr txBox="1"/>
          <p:nvPr/>
        </p:nvSpPr>
        <p:spPr>
          <a:xfrm>
            <a:off x="2596005" y="4366638"/>
            <a:ext cx="1975995" cy="5539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GB" sz="1200">
                <a:solidFill>
                  <a:srgbClr val="434343"/>
                </a:solidFill>
                <a:latin typeface="Calibri"/>
                <a:ea typeface="InterFace Light" charset="0"/>
                <a:cs typeface="InterFace Light" charset="0"/>
                <a:sym typeface="Roboto Light"/>
              </a:rPr>
              <a:t>Join Groups to meet likeminded small business owners</a:t>
            </a:r>
            <a:endParaRPr lang="en-US" sz="1200">
              <a:latin typeface="Calibri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146B96C-84A9-0B48-8E80-7C086AD88862}"/>
              </a:ext>
            </a:extLst>
          </p:cNvPr>
          <p:cNvSpPr txBox="1"/>
          <p:nvPr/>
        </p:nvSpPr>
        <p:spPr>
          <a:xfrm>
            <a:off x="4828030" y="4366638"/>
            <a:ext cx="2121818" cy="3693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GB" sz="1200">
                <a:solidFill>
                  <a:srgbClr val="434343"/>
                </a:solidFill>
                <a:latin typeface="Calibri"/>
                <a:ea typeface="InterFace Light" charset="0"/>
                <a:cs typeface="InterFace Light" charset="0"/>
                <a:sym typeface="Roboto Light"/>
              </a:rPr>
              <a:t>Webinar recordings and discounts to join flagship events</a:t>
            </a:r>
            <a:endParaRPr lang="en-US" sz="1200">
              <a:latin typeface="Calibri"/>
            </a:endParaRPr>
          </a:p>
        </p:txBody>
      </p:sp>
      <p:pic>
        <p:nvPicPr>
          <p:cNvPr id="45" name="Graphic 44">
            <a:extLst>
              <a:ext uri="{FF2B5EF4-FFF2-40B4-BE49-F238E27FC236}">
                <a16:creationId xmlns:a16="http://schemas.microsoft.com/office/drawing/2014/main" id="{CA30A3D5-754B-654F-9EAA-4297E5169A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20440" y="2964493"/>
            <a:ext cx="1047120" cy="1047120"/>
          </a:xfrm>
          <a:prstGeom prst="rect">
            <a:avLst/>
          </a:prstGeom>
        </p:spPr>
      </p:pic>
      <p:sp>
        <p:nvSpPr>
          <p:cNvPr id="46" name="Google Shape;195;p16">
            <a:extLst>
              <a:ext uri="{FF2B5EF4-FFF2-40B4-BE49-F238E27FC236}">
                <a16:creationId xmlns:a16="http://schemas.microsoft.com/office/drawing/2014/main" id="{A999C351-D044-C449-B95A-CD2C9157E6BA}"/>
              </a:ext>
            </a:extLst>
          </p:cNvPr>
          <p:cNvSpPr/>
          <p:nvPr/>
        </p:nvSpPr>
        <p:spPr>
          <a:xfrm>
            <a:off x="7310018" y="720922"/>
            <a:ext cx="460542" cy="453673"/>
          </a:xfrm>
          <a:custGeom>
            <a:avLst/>
            <a:gdLst/>
            <a:ahLst/>
            <a:cxnLst/>
            <a:rect l="l" t="t" r="r" b="b"/>
            <a:pathLst>
              <a:path w="211258" h="208107" extrusionOk="0">
                <a:moveTo>
                  <a:pt x="196318" y="0"/>
                </a:moveTo>
                <a:cubicBezTo>
                  <a:pt x="193981" y="0"/>
                  <a:pt x="191409" y="380"/>
                  <a:pt x="188647" y="1160"/>
                </a:cubicBezTo>
                <a:lnTo>
                  <a:pt x="16809" y="47234"/>
                </a:lnTo>
                <a:cubicBezTo>
                  <a:pt x="12714" y="48172"/>
                  <a:pt x="8959" y="50135"/>
                  <a:pt x="5888" y="52950"/>
                </a:cubicBezTo>
                <a:cubicBezTo>
                  <a:pt x="1" y="58838"/>
                  <a:pt x="1280" y="67114"/>
                  <a:pt x="9301" y="75134"/>
                </a:cubicBezTo>
                <a:lnTo>
                  <a:pt x="135150" y="200984"/>
                </a:lnTo>
                <a:cubicBezTo>
                  <a:pt x="139859" y="205692"/>
                  <a:pt x="144685" y="208107"/>
                  <a:pt x="149059" y="208107"/>
                </a:cubicBezTo>
                <a:cubicBezTo>
                  <a:pt x="152136" y="208107"/>
                  <a:pt x="154988" y="206913"/>
                  <a:pt x="157419" y="204482"/>
                </a:cubicBezTo>
                <a:cubicBezTo>
                  <a:pt x="160235" y="201325"/>
                  <a:pt x="162197" y="197571"/>
                  <a:pt x="163136" y="193475"/>
                </a:cubicBezTo>
                <a:lnTo>
                  <a:pt x="209124" y="21637"/>
                </a:lnTo>
                <a:cubicBezTo>
                  <a:pt x="211257" y="13958"/>
                  <a:pt x="210319" y="7474"/>
                  <a:pt x="206564" y="3720"/>
                </a:cubicBezTo>
                <a:cubicBezTo>
                  <a:pt x="204131" y="1287"/>
                  <a:pt x="200623" y="0"/>
                  <a:pt x="19631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54B3B1A3-AAB6-2A4E-8086-506537923F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96005" y="4025972"/>
            <a:ext cx="228600" cy="2286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45E5671-41CE-D948-A401-723B5C71D76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3290" y="4015724"/>
            <a:ext cx="228600" cy="2286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7235DFE7-B633-744B-AE1F-2D3775EBAD4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28030" y="4011613"/>
            <a:ext cx="228600" cy="2286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DEFD975-C432-8A52-B9D5-D023A3DAF81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0876" y="446537"/>
            <a:ext cx="1510062" cy="724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455057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d64da5f-8e9a-4941-9581-b2bb834a2eef" xsi:nil="true"/>
    <lcf76f155ced4ddcb4097134ff3c332f xmlns="cff76f88-70c4-43b0-bf9d-5367fd58250d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7FDB2FD3F7EA04B98EB502E8318F773" ma:contentTypeVersion="18" ma:contentTypeDescription="Create a new document." ma:contentTypeScope="" ma:versionID="0c4e12ec154a2c2c0bd7290e2faf5b25">
  <xsd:schema xmlns:xsd="http://www.w3.org/2001/XMLSchema" xmlns:xs="http://www.w3.org/2001/XMLSchema" xmlns:p="http://schemas.microsoft.com/office/2006/metadata/properties" xmlns:ns2="cff76f88-70c4-43b0-bf9d-5367fd58250d" xmlns:ns3="4d64da5f-8e9a-4941-9581-b2bb834a2eef" targetNamespace="http://schemas.microsoft.com/office/2006/metadata/properties" ma:root="true" ma:fieldsID="927f53bcd59da1facddb3f6734d25118" ns2:_="" ns3:_="">
    <xsd:import namespace="cff76f88-70c4-43b0-bf9d-5367fd58250d"/>
    <xsd:import namespace="4d64da5f-8e9a-4941-9581-b2bb834a2ee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ff76f88-70c4-43b0-bf9d-5367fd58250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b7c46cc4-311d-4c28-844c-e7c383bc18c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64da5f-8e9a-4941-9581-b2bb834a2ee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f20a673-18f2-44bb-9e8e-44c38f04bb37}" ma:internalName="TaxCatchAll" ma:showField="CatchAllData" ma:web="4d64da5f-8e9a-4941-9581-b2bb834a2ee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CA61537-F742-437C-A237-828B6C2A6486}">
  <ds:schemaRefs>
    <ds:schemaRef ds:uri="4d64da5f-8e9a-4941-9581-b2bb834a2eef"/>
    <ds:schemaRef ds:uri="cff76f88-70c4-43b0-bf9d-5367fd58250d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B2E991D-04DE-4300-8560-2F74708C359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431128A-70C9-4F0A-B07A-D33DCE182352}">
  <ds:schemaRefs>
    <ds:schemaRef ds:uri="4d64da5f-8e9a-4941-9581-b2bb834a2eef"/>
    <ds:schemaRef ds:uri="cff76f88-70c4-43b0-bf9d-5367fd58250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6</Slides>
  <Notes>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revision>15</cp:revision>
  <cp:lastPrinted>2020-03-24T13:36:06Z</cp:lastPrinted>
  <dcterms:modified xsi:type="dcterms:W3CDTF">2025-01-08T16:27:21Z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0x01010097FDB2FD3F7EA04B98EB502E8318F773</vt:lpwstr>
  </property>
  <property fmtid="{D5CDD505-2E9C-101B-9397-08002B2CF9AE}" pid="3" name="MediaServiceImageTags">
    <vt:lpwstr/>
  </property>
</Properties>
</file>